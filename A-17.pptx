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9"/>
  </p:notesMasterIdLst>
  <p:sldIdLst>
    <p:sldId id="257" r:id="rId3"/>
    <p:sldId id="258" r:id="rId4"/>
    <p:sldId id="261" r:id="rId5"/>
    <p:sldId id="275" r:id="rId6"/>
    <p:sldId id="264" r:id="rId7"/>
    <p:sldId id="263" r:id="rId8"/>
    <p:sldId id="266" r:id="rId9"/>
    <p:sldId id="281" r:id="rId10"/>
    <p:sldId id="265" r:id="rId11"/>
    <p:sldId id="277" r:id="rId12"/>
    <p:sldId id="269" r:id="rId13"/>
    <p:sldId id="270" r:id="rId14"/>
    <p:sldId id="291" r:id="rId15"/>
    <p:sldId id="268" r:id="rId16"/>
    <p:sldId id="289" r:id="rId17"/>
    <p:sldId id="290" r:id="rId18"/>
    <p:sldId id="285" r:id="rId19"/>
    <p:sldId id="282" r:id="rId20"/>
    <p:sldId id="279" r:id="rId21"/>
    <p:sldId id="280" r:id="rId22"/>
    <p:sldId id="292" r:id="rId23"/>
    <p:sldId id="287" r:id="rId24"/>
    <p:sldId id="288" r:id="rId25"/>
    <p:sldId id="286" r:id="rId26"/>
    <p:sldId id="283" r:id="rId27"/>
    <p:sldId id="2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8AA94B3-822F-724C-800C-E7B65CC27BA7}" name="manvitha neelapala" initials="mn" userId="cbdcaba47bdc02a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215F33-20C5-4882-8456-27E11F7B322E}" v="1" dt="2026-04-19T18:04:04.2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14FE25-B1F2-4F04-AE85-B0435FCC8E18}"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622E75-84DB-41B4-B8E6-C67187CBC15D}" type="slidenum">
              <a:rPr lang="en-IN" smtClean="0"/>
              <a:t>‹#›</a:t>
            </a:fld>
            <a:endParaRPr lang="en-IN"/>
          </a:p>
        </p:txBody>
      </p:sp>
    </p:spTree>
    <p:extLst>
      <p:ext uri="{BB962C8B-B14F-4D97-AF65-F5344CB8AC3E}">
        <p14:creationId xmlns:p14="http://schemas.microsoft.com/office/powerpoint/2010/main" val="2059275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622E75-84DB-41B4-B8E6-C67187CBC15D}" type="slidenum">
              <a:rPr lang="en-IN" smtClean="0"/>
              <a:t>14</a:t>
            </a:fld>
            <a:endParaRPr lang="en-IN"/>
          </a:p>
        </p:txBody>
      </p:sp>
    </p:spTree>
    <p:extLst>
      <p:ext uri="{BB962C8B-B14F-4D97-AF65-F5344CB8AC3E}">
        <p14:creationId xmlns:p14="http://schemas.microsoft.com/office/powerpoint/2010/main" val="1800013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BA293-C212-CD4E-38F1-37C995F9AE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66CD94-13B8-5D19-2000-EEE4D40613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867DC6-E12C-1127-B630-0C98D1C35558}"/>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5" name="Footer Placeholder 4">
            <a:extLst>
              <a:ext uri="{FF2B5EF4-FFF2-40B4-BE49-F238E27FC236}">
                <a16:creationId xmlns:a16="http://schemas.microsoft.com/office/drawing/2014/main" id="{A55D0AD1-FC4A-82B0-2EBA-7F5541B60C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FE3F0-005B-5533-2B06-B2FF39A56E3C}"/>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4151502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0E20E-8A4E-3205-1ED5-AF00B8368A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85AA68-8A88-8760-48A9-3336837808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0CE74E-14A5-13F6-56CD-C5F56C5C2403}"/>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5" name="Footer Placeholder 4">
            <a:extLst>
              <a:ext uri="{FF2B5EF4-FFF2-40B4-BE49-F238E27FC236}">
                <a16:creationId xmlns:a16="http://schemas.microsoft.com/office/drawing/2014/main" id="{D79A34F9-44F0-B4DA-E4ED-BA241CD8EA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983CE2-3222-E288-3107-22342B7F928B}"/>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31982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B4F5-84A8-FACC-5BA2-397D52367A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1946AE-6063-E27E-96EF-A7C2573BF1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AC17AB-003D-5FEB-E38D-803854521BF5}"/>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5" name="Footer Placeholder 4">
            <a:extLst>
              <a:ext uri="{FF2B5EF4-FFF2-40B4-BE49-F238E27FC236}">
                <a16:creationId xmlns:a16="http://schemas.microsoft.com/office/drawing/2014/main" id="{6092A684-F53A-4752-B926-FFA1F024F8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3C596E-E899-9181-150B-A5738325DD9D}"/>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55144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C5E6D-84EB-AD53-8097-3429E9DC53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0DD69E-6B72-B699-AD4A-9D5E14BC90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E8BCBE-EF88-FD89-37BC-54B8F36AA7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C1F97F-3405-20D5-63EF-E252F618E05F}"/>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6" name="Footer Placeholder 5">
            <a:extLst>
              <a:ext uri="{FF2B5EF4-FFF2-40B4-BE49-F238E27FC236}">
                <a16:creationId xmlns:a16="http://schemas.microsoft.com/office/drawing/2014/main" id="{2823FDA7-7D95-6B2A-8B4F-967C0452DA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B2D4C5-7AAB-518C-D283-68A56E928831}"/>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62128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18A5-1014-371E-9B2A-C1D64C01E4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7D1AA1-D088-971B-1B0A-C8998EA77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1529E0-DCC0-78C4-3B6E-D30E2233CD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FB313C-694C-2520-B903-C18DF650A4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DF2E57-CB7D-E93C-9997-DE14B195A6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CD1CBA-B67F-D7D7-F868-2FE1362C983D}"/>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8" name="Footer Placeholder 7">
            <a:extLst>
              <a:ext uri="{FF2B5EF4-FFF2-40B4-BE49-F238E27FC236}">
                <a16:creationId xmlns:a16="http://schemas.microsoft.com/office/drawing/2014/main" id="{7DFFA410-CB14-4FFF-D9F6-285CAFCDFE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9DC843-73E8-F55D-2FF4-36085122AB85}"/>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1564547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B035-DDE7-8D16-2498-6828A0C0FF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41B77D-99FF-81C5-FF14-DE88828775FB}"/>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4" name="Footer Placeholder 3">
            <a:extLst>
              <a:ext uri="{FF2B5EF4-FFF2-40B4-BE49-F238E27FC236}">
                <a16:creationId xmlns:a16="http://schemas.microsoft.com/office/drawing/2014/main" id="{3EF1466B-0809-3596-B2FB-84BDD45078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42AB80-1A1E-A88B-1D81-010AA5B20D7D}"/>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2377223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669735-197F-478A-BA2D-61CD8459FD29}"/>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3" name="Footer Placeholder 2">
            <a:extLst>
              <a:ext uri="{FF2B5EF4-FFF2-40B4-BE49-F238E27FC236}">
                <a16:creationId xmlns:a16="http://schemas.microsoft.com/office/drawing/2014/main" id="{3B754EA9-1717-C74B-2D3A-B056C14625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C27398-A74D-89E1-9E36-E972B3D6623C}"/>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2133825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1B2DC-800D-C3C2-0287-3A0A549415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4CFCE1-C542-2B80-73B5-1F33CB7F59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162A9B-0EB9-66F3-FE07-D8B4A54CF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784022-26E7-91A3-B3BE-047DE5A35AFD}"/>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6" name="Footer Placeholder 5">
            <a:extLst>
              <a:ext uri="{FF2B5EF4-FFF2-40B4-BE49-F238E27FC236}">
                <a16:creationId xmlns:a16="http://schemas.microsoft.com/office/drawing/2014/main" id="{748D2C9E-A118-8F60-5039-7731621C03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454BFC-3337-0FB4-3993-C6CD3EAF9DD8}"/>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380134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CD538-ED49-F818-C081-A6727F917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36EDB1-8A51-6104-B6AB-DB04E1802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0F78122-076A-9B99-6999-510B8FC81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F5DAD8-6BA7-228E-8CED-9C3B429FC873}"/>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6" name="Footer Placeholder 5">
            <a:extLst>
              <a:ext uri="{FF2B5EF4-FFF2-40B4-BE49-F238E27FC236}">
                <a16:creationId xmlns:a16="http://schemas.microsoft.com/office/drawing/2014/main" id="{C9ACBA9F-5810-6613-CE24-082F3236B8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84B8B3-F322-8E76-E7B9-1488BEFB38CE}"/>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737650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0D0F-B134-CB3C-5FD2-08DC033DC2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9AEA4A-81BB-17C0-2C86-7DA031C0A6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E3B085-A75E-B911-1318-A4A748AF41DE}"/>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5" name="Footer Placeholder 4">
            <a:extLst>
              <a:ext uri="{FF2B5EF4-FFF2-40B4-BE49-F238E27FC236}">
                <a16:creationId xmlns:a16="http://schemas.microsoft.com/office/drawing/2014/main" id="{A265CD14-A897-E9B4-2DEC-CEDA25F248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D637C9-5DC4-5EC2-F06E-CDE867A02ACF}"/>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746328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349D72-0A5F-4107-2DC8-996CAAEA6C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433BA9-5698-1EB2-E0E9-397F662FB7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22AA34-2FD6-DB63-F035-CAC52BA8AFA2}"/>
              </a:ext>
            </a:extLst>
          </p:cNvPr>
          <p:cNvSpPr>
            <a:spLocks noGrp="1"/>
          </p:cNvSpPr>
          <p:nvPr>
            <p:ph type="dt" sz="half" idx="10"/>
          </p:nvPr>
        </p:nvSpPr>
        <p:spPr/>
        <p:txBody>
          <a:bodyPr/>
          <a:lstStyle/>
          <a:p>
            <a:fld id="{B9487EDA-7160-4512-8D7B-E4418D3EC952}" type="datetimeFigureOut">
              <a:rPr lang="en-IN" smtClean="0"/>
              <a:t>19-04-2026</a:t>
            </a:fld>
            <a:endParaRPr lang="en-IN"/>
          </a:p>
        </p:txBody>
      </p:sp>
      <p:sp>
        <p:nvSpPr>
          <p:cNvPr id="5" name="Footer Placeholder 4">
            <a:extLst>
              <a:ext uri="{FF2B5EF4-FFF2-40B4-BE49-F238E27FC236}">
                <a16:creationId xmlns:a16="http://schemas.microsoft.com/office/drawing/2014/main" id="{64EEB13B-BD57-70F8-26A8-80F81DAE4E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90FE9C-42F9-1795-944F-B87DB12FC249}"/>
              </a:ext>
            </a:extLst>
          </p:cNvPr>
          <p:cNvSpPr>
            <a:spLocks noGrp="1"/>
          </p:cNvSpPr>
          <p:nvPr>
            <p:ph type="sldNum" sz="quarter" idx="12"/>
          </p:nvPr>
        </p:nvSpPr>
        <p:spPr/>
        <p:txBody>
          <a:bodyPr/>
          <a:lstStyle/>
          <a:p>
            <a:fld id="{B1DFD021-4AC4-4D9C-BC49-2041D84B21C1}" type="slidenum">
              <a:rPr lang="en-IN" smtClean="0"/>
              <a:t>‹#›</a:t>
            </a:fld>
            <a:endParaRPr lang="en-IN"/>
          </a:p>
        </p:txBody>
      </p:sp>
    </p:spTree>
    <p:extLst>
      <p:ext uri="{BB962C8B-B14F-4D97-AF65-F5344CB8AC3E}">
        <p14:creationId xmlns:p14="http://schemas.microsoft.com/office/powerpoint/2010/main" val="2135981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D709EB9-74CB-46C9-A7CD-9D77C0A40538}"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369548384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72598820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709EB9-74CB-46C9-A7CD-9D77C0A40538}"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344814950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709EB9-74CB-46C9-A7CD-9D77C0A40538}"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71079572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709EB9-74CB-46C9-A7CD-9D77C0A40538}" type="datetimeFigureOut">
              <a:rPr lang="en-IN" smtClean="0"/>
              <a:t>19-04-2026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219617985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709EB9-74CB-46C9-A7CD-9D77C0A40538}" type="datetimeFigureOut">
              <a:rPr lang="en-IN" smtClean="0"/>
              <a:t>19-04-2026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223212310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709EB9-74CB-46C9-A7CD-9D77C0A40538}" type="datetimeFigureOut">
              <a:rPr lang="en-IN" smtClean="0"/>
              <a:t>19-04-2026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228233470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709EB9-74CB-46C9-A7CD-9D77C0A40538}"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282283234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709EB9-74CB-46C9-A7CD-9D77C0A40538}"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309174248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74394999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166420833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extLst>
      <p:ext uri="{BB962C8B-B14F-4D97-AF65-F5344CB8AC3E}">
        <p14:creationId xmlns:p14="http://schemas.microsoft.com/office/powerpoint/2010/main" val="375148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2174D1-46EA-16C5-4034-25B5EAF9C2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2BDE1B-EE82-9254-7D40-1DC212B0E0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F53155-3996-1B3C-43C5-4465783B58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487EDA-7160-4512-8D7B-E4418D3EC952}" type="datetimeFigureOut">
              <a:rPr lang="en-IN" smtClean="0"/>
              <a:t>19-04-2026</a:t>
            </a:fld>
            <a:endParaRPr lang="en-IN"/>
          </a:p>
        </p:txBody>
      </p:sp>
      <p:sp>
        <p:nvSpPr>
          <p:cNvPr id="5" name="Footer Placeholder 4">
            <a:extLst>
              <a:ext uri="{FF2B5EF4-FFF2-40B4-BE49-F238E27FC236}">
                <a16:creationId xmlns:a16="http://schemas.microsoft.com/office/drawing/2014/main" id="{5CDB0FDE-BF47-FFD3-E3B5-9896D6E63D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0D1233-144B-92C9-D968-BCFC90EB9C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FD021-4AC4-4D9C-BC49-2041D84B21C1}" type="slidenum">
              <a:rPr lang="en-IN" smtClean="0"/>
              <a:t>‹#›</a:t>
            </a:fld>
            <a:endParaRPr lang="en-IN"/>
          </a:p>
        </p:txBody>
      </p:sp>
    </p:spTree>
    <p:extLst>
      <p:ext uri="{BB962C8B-B14F-4D97-AF65-F5344CB8AC3E}">
        <p14:creationId xmlns:p14="http://schemas.microsoft.com/office/powerpoint/2010/main" val="2386349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1D709EB9-74CB-46C9-A7CD-9D77C0A40538}" type="datetimeFigureOut">
              <a:rPr lang="en-IN" smtClean="0"/>
              <a:t>19-04-2026</a:t>
            </a:fld>
            <a:endParaRPr lang="en-IN"/>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IN"/>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9FC6DA7-42EC-4B7B-A6A2-F802FDA1DCA5}" type="slidenum">
              <a:rPr lang="en-IN" smtClean="0"/>
              <a:t>‹#›</a:t>
            </a:fld>
            <a:endParaRPr lang="en-IN"/>
          </a:p>
        </p:txBody>
      </p:sp>
    </p:spTree>
    <p:extLst>
      <p:ext uri="{BB962C8B-B14F-4D97-AF65-F5344CB8AC3E}">
        <p14:creationId xmlns:p14="http://schemas.microsoft.com/office/powerpoint/2010/main" val="6373894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GIF"/><Relationship Id="rId4" Type="http://schemas.openxmlformats.org/officeDocument/2006/relationships/tags" Target="../tags/tag4.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3"/>
          <p:cNvPicPr>
            <a:picLocks noChangeAspect="1" noChangeArrowheads="1"/>
          </p:cNvPicPr>
          <p:nvPr>
            <p:custDataLst>
              <p:tags r:id="rId1"/>
            </p:custDataLst>
          </p:nvPr>
        </p:nvPicPr>
        <p:blipFill>
          <a:blip r:embed="rId9"/>
          <a:srcRect/>
          <a:stretch>
            <a:fillRect/>
          </a:stretch>
        </p:blipFill>
        <p:spPr bwMode="auto">
          <a:xfrm>
            <a:off x="0" y="0"/>
            <a:ext cx="2073275" cy="1122045"/>
          </a:xfrm>
          <a:prstGeom prst="rect">
            <a:avLst/>
          </a:prstGeom>
          <a:noFill/>
          <a:ln>
            <a:noFill/>
          </a:ln>
        </p:spPr>
      </p:pic>
      <p:sp>
        <p:nvSpPr>
          <p:cNvPr id="1048584" name="TextBox 6"/>
          <p:cNvSpPr txBox="1"/>
          <p:nvPr>
            <p:custDataLst>
              <p:tags r:id="rId2"/>
            </p:custDataLst>
          </p:nvPr>
        </p:nvSpPr>
        <p:spPr>
          <a:xfrm>
            <a:off x="1827133" y="266700"/>
            <a:ext cx="8806815" cy="757555"/>
          </a:xfrm>
          <a:prstGeom prst="rect">
            <a:avLst/>
          </a:prstGeom>
          <a:noFill/>
        </p:spPr>
        <p:txBody>
          <a:bodyPr wrap="square" lIns="19998" tIns="9999" rIns="19998" bIns="9999" rtlCol="0">
            <a:spAutoFit/>
          </a:bodyPr>
          <a:lstStyle/>
          <a:p>
            <a:pPr algn="ctr"/>
            <a:r>
              <a:rPr lang="en-IN" sz="2400" b="1" dirty="0">
                <a:solidFill>
                  <a:srgbClr val="0000FF"/>
                </a:solidFill>
                <a:latin typeface="Times New Roman" panose="02020603050405020304" pitchFamily="18" charset="0"/>
                <a:cs typeface="Times New Roman" panose="02020603050405020304" pitchFamily="18" charset="0"/>
              </a:rPr>
              <a:t>Department of Information Technology</a:t>
            </a:r>
          </a:p>
          <a:p>
            <a:pPr algn="ctr"/>
            <a:r>
              <a:rPr lang="en-IN" sz="2400" b="1" dirty="0">
                <a:solidFill>
                  <a:srgbClr val="FF0000"/>
                </a:solidFill>
                <a:latin typeface="Times New Roman" panose="02020603050405020304" pitchFamily="18" charset="0"/>
                <a:cs typeface="Times New Roman" panose="02020603050405020304" pitchFamily="18" charset="0"/>
              </a:rPr>
              <a:t>V R Siddhartha Engineering College </a:t>
            </a:r>
          </a:p>
        </p:txBody>
      </p:sp>
      <p:pic>
        <p:nvPicPr>
          <p:cNvPr id="2097153" name="Picture 5" descr="Image result for vrsec"/>
          <p:cNvPicPr>
            <a:picLocks noChangeAspect="1" noChangeArrowheads="1"/>
          </p:cNvPicPr>
          <p:nvPr>
            <p:custDataLst>
              <p:tags r:id="rId3"/>
            </p:custDataLst>
          </p:nvPr>
        </p:nvPicPr>
        <p:blipFill>
          <a:blip r:embed="rId10" cstate="print"/>
          <a:srcRect/>
          <a:stretch>
            <a:fillRect/>
          </a:stretch>
        </p:blipFill>
        <p:spPr bwMode="auto">
          <a:xfrm>
            <a:off x="11062970" y="0"/>
            <a:ext cx="1129030" cy="1311910"/>
          </a:xfrm>
          <a:prstGeom prst="rect">
            <a:avLst/>
          </a:prstGeom>
          <a:noFill/>
        </p:spPr>
      </p:pic>
      <p:sp>
        <p:nvSpPr>
          <p:cNvPr id="1048585" name="Title 1"/>
          <p:cNvSpPr>
            <a:spLocks noGrp="1"/>
          </p:cNvSpPr>
          <p:nvPr>
            <p:custDataLst>
              <p:tags r:id="rId4"/>
            </p:custDataLst>
          </p:nvPr>
        </p:nvSpPr>
        <p:spPr>
          <a:xfrm>
            <a:off x="134224" y="1427806"/>
            <a:ext cx="12192635" cy="1311910"/>
          </a:xfrm>
          <a:prstGeom prst="rect">
            <a:avLst/>
          </a:prstGeom>
        </p:spPr>
        <p:txBody>
          <a:bodyPr vert="horz" lIns="228600" tIns="228600" rIns="228600" bIns="0" rtlCol="0" anchor="b">
            <a:noAutofit/>
          </a:bodyPr>
          <a:lstStyle>
            <a:lvl1pPr algn="ctr" defTabSz="914400" rtl="0" eaLnBrk="1" latinLnBrk="0" hangingPunct="1">
              <a:lnSpc>
                <a:spcPct val="80000"/>
              </a:lnSpc>
              <a:spcBef>
                <a:spcPct val="0"/>
              </a:spcBef>
              <a:buNone/>
              <a:defRPr sz="5400" b="0" i="0" kern="1200" cap="none" spc="-150">
                <a:solidFill>
                  <a:srgbClr val="FFFEFF"/>
                </a:solidFill>
                <a:effectLst/>
                <a:latin typeface="+mj-lt"/>
                <a:ea typeface="+mj-ea"/>
                <a:cs typeface="+mj-cs"/>
              </a:defRPr>
            </a:lvl1pPr>
          </a:lstStyle>
          <a:p>
            <a:pPr>
              <a:lnSpc>
                <a:spcPct val="100000"/>
              </a:lnSpc>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 Multimodal Explainable AI Framework for Depression Detection </a:t>
            </a:r>
          </a:p>
          <a:p>
            <a:pPr>
              <a:lnSpc>
                <a:spcPct val="100000"/>
              </a:lnSpc>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using PHQ-9 and Eye-Based Features</a:t>
            </a:r>
          </a:p>
          <a:p>
            <a:pPr>
              <a:lnSpc>
                <a:spcPct val="100000"/>
              </a:lnSpc>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endParaRPr lang="en-US" sz="2800" b="1" dirty="0">
              <a:solidFill>
                <a:schemeClr val="tx1"/>
              </a:solidFill>
              <a:latin typeface="Times New Roman" panose="02020603050405020304" pitchFamily="18" charset="0"/>
              <a:cs typeface="Times New Roman" panose="02020603050405020304" pitchFamily="18" charset="0"/>
              <a:sym typeface="+mn-ea"/>
            </a:endParaRPr>
          </a:p>
        </p:txBody>
      </p:sp>
      <p:sp>
        <p:nvSpPr>
          <p:cNvPr id="1048587" name="TextBox 7"/>
          <p:cNvSpPr txBox="1"/>
          <p:nvPr>
            <p:custDataLst>
              <p:tags r:id="rId5"/>
            </p:custDataLst>
          </p:nvPr>
        </p:nvSpPr>
        <p:spPr>
          <a:xfrm>
            <a:off x="0" y="2832735"/>
            <a:ext cx="12192000" cy="706755"/>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B.Tech in Information Technology</a:t>
            </a:r>
          </a:p>
          <a:p>
            <a:pPr algn="ctr"/>
            <a:r>
              <a:rPr lang="en-US" sz="2000" b="1" dirty="0">
                <a:solidFill>
                  <a:srgbClr val="BF11A6"/>
                </a:solidFill>
                <a:latin typeface="Times New Roman" panose="02020603050405020304" pitchFamily="18" charset="0"/>
                <a:cs typeface="Times New Roman" panose="02020603050405020304" pitchFamily="18" charset="0"/>
              </a:rPr>
              <a:t>Major Project Review Presentation</a:t>
            </a:r>
          </a:p>
        </p:txBody>
      </p:sp>
      <p:sp>
        <p:nvSpPr>
          <p:cNvPr id="1048588" name="Subtitle 2"/>
          <p:cNvSpPr>
            <a:spLocks noGrp="1"/>
          </p:cNvSpPr>
          <p:nvPr>
            <p:custDataLst>
              <p:tags r:id="rId6"/>
            </p:custDataLst>
          </p:nvPr>
        </p:nvSpPr>
        <p:spPr>
          <a:xfrm>
            <a:off x="0" y="4009390"/>
            <a:ext cx="12192000" cy="1767374"/>
          </a:xfrm>
          <a:prstGeom prst="rect">
            <a:avLst/>
          </a:prstGeom>
        </p:spPr>
        <p:txBody>
          <a:bodyPr vert="horz" lIns="91440" tIns="0" rIns="91440" bIns="45720" rtlCol="0">
            <a:normAutofit fontScale="80000" lnSpcReduction="20000"/>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r>
              <a:rPr lang="en-US" sz="3500" dirty="0">
                <a:solidFill>
                  <a:schemeClr val="tx1"/>
                </a:solidFill>
                <a:latin typeface="Times New Roman" panose="02020603050405020304" pitchFamily="18" charset="0"/>
                <a:cs typeface="Times New Roman" panose="02020603050405020304" pitchFamily="18" charset="0"/>
              </a:rPr>
              <a:t>Presented by</a:t>
            </a:r>
          </a:p>
          <a:p>
            <a:r>
              <a:rPr lang="en-IN" altLang="en-US" sz="2800" b="1" dirty="0">
                <a:solidFill>
                  <a:srgbClr val="7030A0"/>
                </a:solidFill>
                <a:latin typeface="Times New Roman" panose="02020603050405020304" pitchFamily="18" charset="0"/>
                <a:cs typeface="Times New Roman" panose="02020603050405020304" pitchFamily="18" charset="0"/>
              </a:rPr>
              <a:t>ALLA HANVITHA SAI (228W1A1202)</a:t>
            </a:r>
          </a:p>
          <a:p>
            <a:r>
              <a:rPr lang="en-IN" altLang="en-US" sz="2800" b="1" dirty="0">
                <a:solidFill>
                  <a:srgbClr val="7030A0"/>
                </a:solidFill>
                <a:latin typeface="Times New Roman" panose="02020603050405020304" pitchFamily="18" charset="0"/>
                <a:cs typeface="Times New Roman" panose="02020603050405020304" pitchFamily="18" charset="0"/>
              </a:rPr>
              <a:t>NELLAPALA MANVITHA (228W1A1241)</a:t>
            </a:r>
          </a:p>
          <a:p>
            <a:r>
              <a:rPr lang="en-IN" altLang="en-US" sz="3950" b="1" dirty="0">
                <a:solidFill>
                  <a:srgbClr val="7030A0"/>
                </a:solidFill>
                <a:cs typeface="AngsanaUPC" panose="02020603050405020304" pitchFamily="18" charset="-34"/>
              </a:rPr>
              <a:t>     </a:t>
            </a:r>
            <a:endParaRPr lang="en-IN" altLang="en-US" sz="3950" dirty="0">
              <a:solidFill>
                <a:schemeClr val="tx1"/>
              </a:solidFill>
            </a:endParaRPr>
          </a:p>
        </p:txBody>
      </p:sp>
      <p:sp>
        <p:nvSpPr>
          <p:cNvPr id="1048589" name="Rectangle 3"/>
          <p:cNvSpPr/>
          <p:nvPr>
            <p:custDataLst>
              <p:tags r:id="rId7"/>
            </p:custDataLst>
          </p:nvPr>
        </p:nvSpPr>
        <p:spPr>
          <a:xfrm>
            <a:off x="0" y="5524500"/>
            <a:ext cx="12191999" cy="954107"/>
          </a:xfrm>
          <a:prstGeom prst="rect">
            <a:avLst/>
          </a:prstGeom>
        </p:spPr>
        <p:txBody>
          <a:bodyPr wrap="square">
            <a:spAutoFit/>
          </a:bodyPr>
          <a:lstStyle/>
          <a:p>
            <a:pPr algn="ctr"/>
            <a:r>
              <a:rPr lang="en-US" b="1" dirty="0">
                <a:latin typeface="Times New Roman" panose="02020603050405020304" pitchFamily="18" charset="0"/>
                <a:cs typeface="Times New Roman" panose="02020603050405020304" pitchFamily="18" charset="0"/>
              </a:rPr>
              <a:t>Und</a:t>
            </a:r>
            <a:r>
              <a:rPr lang="en-IN" altLang="en-US" b="1" dirty="0">
                <a:latin typeface="Times New Roman" panose="02020603050405020304" pitchFamily="18" charset="0"/>
                <a:cs typeface="Times New Roman" panose="02020603050405020304" pitchFamily="18" charset="0"/>
              </a:rPr>
              <a:t>e</a:t>
            </a:r>
            <a:r>
              <a:rPr lang="en-US" b="1" dirty="0">
                <a:latin typeface="Times New Roman" panose="02020603050405020304" pitchFamily="18" charset="0"/>
                <a:cs typeface="Times New Roman" panose="02020603050405020304" pitchFamily="18" charset="0"/>
              </a:rPr>
              <a:t>r the guidance of </a:t>
            </a:r>
          </a:p>
          <a:p>
            <a:pPr algn="ctr"/>
            <a:r>
              <a:rPr lang="en-US" sz="2000" dirty="0">
                <a:latin typeface="Times New Roman" panose="02020603050405020304" pitchFamily="18" charset="0"/>
                <a:cs typeface="Times New Roman" panose="02020603050405020304" pitchFamily="18" charset="0"/>
              </a:rPr>
              <a:t> </a:t>
            </a:r>
            <a:r>
              <a:rPr lang="en-US" sz="2000" b="1" dirty="0">
                <a:solidFill>
                  <a:srgbClr val="FF0000"/>
                </a:solidFill>
                <a:cs typeface="AngsanaUPC" panose="02020603050405020304" pitchFamily="18" charset="-34"/>
              </a:rPr>
              <a:t>Dr. G SrinivasaRao</a:t>
            </a:r>
            <a:endParaRPr lang="en-US" b="1" dirty="0">
              <a:solidFill>
                <a:srgbClr val="FF0000"/>
              </a:solidFill>
              <a:cs typeface="AngsanaUPC" panose="02020603050405020304" pitchFamily="18" charset="-34"/>
            </a:endParaRPr>
          </a:p>
          <a:p>
            <a:pPr algn="ctr"/>
            <a:r>
              <a:rPr lang="en-US" b="1" dirty="0">
                <a:solidFill>
                  <a:srgbClr val="FF0000"/>
                </a:solidFill>
                <a:cs typeface="AngsanaUPC" panose="02020603050405020304" pitchFamily="18" charset="-34"/>
              </a:rPr>
              <a:t> Assistant Professor(SG)</a:t>
            </a:r>
            <a:endParaRPr lang="en-IN" altLang="en-US"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3911D-A07F-F45A-F44B-95817166795A}"/>
              </a:ext>
            </a:extLst>
          </p:cNvPr>
          <p:cNvSpPr>
            <a:spLocks noGrp="1"/>
          </p:cNvSpPr>
          <p:nvPr>
            <p:ph type="title"/>
          </p:nvPr>
        </p:nvSpPr>
        <p:spPr>
          <a:xfrm>
            <a:off x="838200" y="365125"/>
            <a:ext cx="10515600" cy="901613"/>
          </a:xfrm>
        </p:spPr>
        <p:txBody>
          <a:bodyPr>
            <a:normAutofit/>
          </a:bodyPr>
          <a:lstStyle/>
          <a:p>
            <a:r>
              <a:rPr lang="en-IN" sz="3600"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61D5C662-A334-43A1-F10B-A0346CD5BB6C}"/>
              </a:ext>
            </a:extLst>
          </p:cNvPr>
          <p:cNvSpPr>
            <a:spLocks noGrp="1"/>
          </p:cNvSpPr>
          <p:nvPr>
            <p:ph idx="1"/>
          </p:nvPr>
        </p:nvSpPr>
        <p:spPr>
          <a:xfrm>
            <a:off x="956344" y="1476462"/>
            <a:ext cx="10397455" cy="4700501"/>
          </a:xfrm>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Introduction </a:t>
            </a:r>
          </a:p>
          <a:p>
            <a:r>
              <a:rPr lang="en-IN" dirty="0">
                <a:latin typeface="Times New Roman" panose="02020603050405020304" pitchFamily="18" charset="0"/>
                <a:cs typeface="Times New Roman" panose="02020603050405020304" pitchFamily="18" charset="0"/>
              </a:rPr>
              <a:t>Problem statement</a:t>
            </a:r>
          </a:p>
          <a:p>
            <a:r>
              <a:rPr lang="en-IN" dirty="0">
                <a:latin typeface="Times New Roman" panose="02020603050405020304" pitchFamily="18" charset="0"/>
                <a:cs typeface="Times New Roman" panose="02020603050405020304" pitchFamily="18" charset="0"/>
              </a:rPr>
              <a:t>Objectives and Outcomes of the Project</a:t>
            </a:r>
          </a:p>
          <a:p>
            <a:r>
              <a:rPr lang="en-IN" dirty="0">
                <a:latin typeface="Times New Roman" panose="02020603050405020304" pitchFamily="18" charset="0"/>
                <a:cs typeface="Times New Roman" panose="02020603050405020304" pitchFamily="18" charset="0"/>
              </a:rPr>
              <a:t>Literature Review</a:t>
            </a:r>
          </a:p>
          <a:p>
            <a:r>
              <a:rPr lang="en-IN" dirty="0">
                <a:latin typeface="Times New Roman" panose="02020603050405020304" pitchFamily="18" charset="0"/>
                <a:cs typeface="Times New Roman" panose="02020603050405020304" pitchFamily="18" charset="0"/>
              </a:rPr>
              <a:t>Research Gap</a:t>
            </a:r>
          </a:p>
          <a:p>
            <a:r>
              <a:rPr lang="en-IN" dirty="0">
                <a:latin typeface="Times New Roman" panose="02020603050405020304" pitchFamily="18" charset="0"/>
                <a:cs typeface="Times New Roman" panose="02020603050405020304" pitchFamily="18" charset="0"/>
              </a:rPr>
              <a:t>Datasets and Requirements</a:t>
            </a:r>
          </a:p>
          <a:p>
            <a:r>
              <a:rPr lang="en-IN" dirty="0">
                <a:latin typeface="Times New Roman" panose="02020603050405020304" pitchFamily="18" charset="0"/>
                <a:cs typeface="Times New Roman" panose="02020603050405020304" pitchFamily="18" charset="0"/>
              </a:rPr>
              <a:t>Algorithms used in the Project</a:t>
            </a:r>
          </a:p>
          <a:p>
            <a:r>
              <a:rPr lang="en-IN" dirty="0">
                <a:latin typeface="Times New Roman" panose="02020603050405020304" pitchFamily="18" charset="0"/>
                <a:cs typeface="Times New Roman" panose="02020603050405020304" pitchFamily="18" charset="0"/>
              </a:rPr>
              <a:t>Architecture Diagram</a:t>
            </a:r>
          </a:p>
          <a:p>
            <a:r>
              <a:rPr lang="en-IN" dirty="0">
                <a:latin typeface="Times New Roman" panose="02020603050405020304" pitchFamily="18" charset="0"/>
                <a:cs typeface="Times New Roman" panose="02020603050405020304" pitchFamily="18" charset="0"/>
              </a:rPr>
              <a:t>Implementation Steps and Execution</a:t>
            </a:r>
          </a:p>
          <a:p>
            <a:r>
              <a:rPr lang="en-IN" dirty="0">
                <a:latin typeface="Times New Roman" panose="02020603050405020304" pitchFamily="18" charset="0"/>
                <a:cs typeface="Times New Roman" panose="02020603050405020304" pitchFamily="18" charset="0"/>
              </a:rPr>
              <a:t>Results obtained </a:t>
            </a:r>
          </a:p>
          <a:p>
            <a:r>
              <a:rPr lang="en-IN" dirty="0">
                <a:latin typeface="Times New Roman" panose="02020603050405020304" pitchFamily="18" charset="0"/>
                <a:cs typeface="Times New Roman" panose="02020603050405020304" pitchFamily="18" charset="0"/>
              </a:rPr>
              <a:t>Conclusion and Future work</a:t>
            </a:r>
          </a:p>
          <a:p>
            <a:r>
              <a:rPr lang="en-IN" dirty="0">
                <a:latin typeface="Times New Roman" panose="02020603050405020304" pitchFamily="18" charset="0"/>
                <a:cs typeface="Times New Roman" panose="02020603050405020304" pitchFamily="18" charset="0"/>
              </a:rPr>
              <a:t>References</a:t>
            </a:r>
          </a:p>
          <a:p>
            <a:pPr marL="0" indent="0">
              <a:buNone/>
            </a:pPr>
            <a:endParaRPr lang="en-IN" dirty="0"/>
          </a:p>
        </p:txBody>
      </p:sp>
    </p:spTree>
    <p:extLst>
      <p:ext uri="{BB962C8B-B14F-4D97-AF65-F5344CB8AC3E}">
        <p14:creationId xmlns:p14="http://schemas.microsoft.com/office/powerpoint/2010/main" val="3833026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88D2-343D-80C8-736E-F9819412D06A}"/>
              </a:ext>
            </a:extLst>
          </p:cNvPr>
          <p:cNvSpPr>
            <a:spLocks noGrp="1"/>
          </p:cNvSpPr>
          <p:nvPr>
            <p:ph type="title"/>
          </p:nvPr>
        </p:nvSpPr>
        <p:spPr>
          <a:xfrm>
            <a:off x="838200" y="365126"/>
            <a:ext cx="10515600" cy="1035836"/>
          </a:xfrm>
        </p:spPr>
        <p:txBody>
          <a:bodyPr>
            <a:normAutofit/>
          </a:bodyPr>
          <a:lstStyle/>
          <a:p>
            <a:r>
              <a:rPr lang="en-IN" sz="36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BBBAE370-E815-5FD0-935A-37F851E49438}"/>
              </a:ext>
            </a:extLst>
          </p:cNvPr>
          <p:cNvSpPr>
            <a:spLocks noGrp="1"/>
          </p:cNvSpPr>
          <p:nvPr>
            <p:ph idx="1"/>
          </p:nvPr>
        </p:nvSpPr>
        <p:spPr>
          <a:xfrm>
            <a:off x="905312" y="1686187"/>
            <a:ext cx="10515600" cy="4549499"/>
          </a:xfrm>
        </p:spPr>
        <p:txBody>
          <a:bodyPr>
            <a:normAutofit/>
          </a:bodyPr>
          <a:lstStyle/>
          <a:p>
            <a:r>
              <a:rPr lang="en-US" sz="2400" dirty="0">
                <a:latin typeface="Times New Roman" panose="02020603050405020304" pitchFamily="18" charset="0"/>
                <a:cs typeface="Times New Roman" panose="02020603050405020304" pitchFamily="18" charset="0"/>
              </a:rPr>
              <a:t>Depression is one of the most prevalent mental health disorders worldwide and often remains undiagnosed in its early stages due to lack of awareness and hesitation in expressing emotional distress. Traditional screening methods such as PHQ-9 rely heavily on self-reported responses, which may not always reflect the true mental state of an individual [1].</a:t>
            </a:r>
          </a:p>
          <a:p>
            <a:r>
              <a:rPr lang="en-US" sz="2400" dirty="0">
                <a:latin typeface="Times New Roman" panose="02020603050405020304" pitchFamily="18" charset="0"/>
                <a:cs typeface="Times New Roman" panose="02020603050405020304" pitchFamily="18" charset="0"/>
              </a:rPr>
              <a:t>Recent research highlights that physiological signals, particularly eye-based features, can provide objective insights into emotional conditions [2]. However, many existing AI-based systems lack transparency in their decision-making [3].</a:t>
            </a:r>
          </a:p>
          <a:p>
            <a:r>
              <a:rPr lang="en-US" sz="2400" dirty="0">
                <a:latin typeface="Times New Roman" panose="02020603050405020304" pitchFamily="18" charset="0"/>
                <a:cs typeface="Times New Roman" panose="02020603050405020304" pitchFamily="18" charset="0"/>
              </a:rPr>
              <a:t>This motivates the development of a reliable, multimodal, and explainable depression detection system.</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7303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F4962-443F-104D-598D-58BEDB2A2196}"/>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Problem statement</a:t>
            </a:r>
            <a:br>
              <a:rPr lang="en-IN" sz="3600" dirty="0">
                <a:latin typeface="Times New Roman" panose="02020603050405020304" pitchFamily="18" charset="0"/>
                <a:cs typeface="Times New Roman" panose="02020603050405020304" pitchFamily="18" charset="0"/>
              </a:rPr>
            </a:br>
            <a:endParaRPr lang="en-IN" sz="3600" dirty="0"/>
          </a:p>
        </p:txBody>
      </p:sp>
      <p:sp>
        <p:nvSpPr>
          <p:cNvPr id="3" name="Content Placeholder 2">
            <a:extLst>
              <a:ext uri="{FF2B5EF4-FFF2-40B4-BE49-F238E27FC236}">
                <a16:creationId xmlns:a16="http://schemas.microsoft.com/office/drawing/2014/main" id="{A99CE341-AF5A-EDE0-947D-921A427FB9B4}"/>
              </a:ext>
            </a:extLst>
          </p:cNvPr>
          <p:cNvSpPr>
            <a:spLocks noGrp="1"/>
          </p:cNvSpPr>
          <p:nvPr>
            <p:ph idx="1"/>
          </p:nvPr>
        </p:nvSpPr>
        <p:spPr>
          <a:xfrm>
            <a:off x="1149292" y="1690688"/>
            <a:ext cx="10204508" cy="448627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Accurate and early detection of depression remains a challenge due to the limitations of single-modality </a:t>
            </a:r>
            <a:r>
              <a:rPr lang="en-US" sz="2400" dirty="0" err="1">
                <a:latin typeface="Times New Roman" panose="02020603050405020304" pitchFamily="18" charset="0"/>
                <a:cs typeface="Times New Roman" panose="02020603050405020304" pitchFamily="18" charset="0"/>
              </a:rPr>
              <a:t>systems.Questionnaire</a:t>
            </a:r>
            <a:r>
              <a:rPr lang="en-US" sz="2400" dirty="0">
                <a:latin typeface="Times New Roman" panose="02020603050405020304" pitchFamily="18" charset="0"/>
                <a:cs typeface="Times New Roman" panose="02020603050405020304" pitchFamily="18" charset="0"/>
              </a:rPr>
              <a:t>-based methods are subjective and may lead to biased responses, while physiological signal-based approaches lack contextual clinical information. Furthermore, most deep learning models used in mental health analysis operate as black boxes, reducing user trust. Therefore, there is a need for a robust, multimodal framework that integrates clinical and visual data with explainable AI techniques to improve accuracy and interpretability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384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7A7421-63F3-4BB3-1791-F2C372C929F3}"/>
              </a:ext>
            </a:extLst>
          </p:cNvPr>
          <p:cNvSpPr>
            <a:spLocks noGrp="1"/>
          </p:cNvSpPr>
          <p:nvPr>
            <p:ph type="body" idx="1"/>
          </p:nvPr>
        </p:nvSpPr>
        <p:spPr>
          <a:xfrm>
            <a:off x="839788" y="668337"/>
            <a:ext cx="5157787" cy="1051406"/>
          </a:xfrm>
        </p:spPr>
        <p:txBody>
          <a:bodyPr>
            <a:normAutofit/>
          </a:bodyPr>
          <a:lstStyle/>
          <a:p>
            <a:r>
              <a:rPr lang="en-IN" sz="3600" b="0" dirty="0">
                <a:latin typeface="Times New Roman" panose="02020603050405020304" pitchFamily="18" charset="0"/>
                <a:cs typeface="Times New Roman" panose="02020603050405020304" pitchFamily="18" charset="0"/>
              </a:rPr>
              <a:t>Objectives</a:t>
            </a:r>
          </a:p>
        </p:txBody>
      </p:sp>
      <p:sp>
        <p:nvSpPr>
          <p:cNvPr id="4" name="Content Placeholder 3">
            <a:extLst>
              <a:ext uri="{FF2B5EF4-FFF2-40B4-BE49-F238E27FC236}">
                <a16:creationId xmlns:a16="http://schemas.microsoft.com/office/drawing/2014/main" id="{ECE400F0-D550-0F23-A9E9-573AFB4EA06E}"/>
              </a:ext>
            </a:extLst>
          </p:cNvPr>
          <p:cNvSpPr>
            <a:spLocks noGrp="1"/>
          </p:cNvSpPr>
          <p:nvPr>
            <p:ph sz="half" idx="2"/>
          </p:nvPr>
        </p:nvSpPr>
        <p:spPr>
          <a:xfrm>
            <a:off x="839788" y="2281806"/>
            <a:ext cx="5157787" cy="3907857"/>
          </a:xfrm>
        </p:spPr>
        <p:txBody>
          <a:bodyPr>
            <a:normAutofit/>
          </a:bodyPr>
          <a:lstStyle/>
          <a:p>
            <a:r>
              <a:rPr lang="en-US" sz="2200" dirty="0">
                <a:latin typeface="Times New Roman" panose="02020603050405020304" pitchFamily="18" charset="0"/>
                <a:cs typeface="Times New Roman" panose="02020603050405020304" pitchFamily="18" charset="0"/>
              </a:rPr>
              <a:t>To develop a Random Forest model using PHQ-9 questionnaire data for depression classification.</a:t>
            </a:r>
          </a:p>
          <a:p>
            <a:r>
              <a:rPr lang="en-US" sz="2200" dirty="0">
                <a:latin typeface="Times New Roman" panose="02020603050405020304" pitchFamily="18" charset="0"/>
                <a:cs typeface="Times New Roman" panose="02020603050405020304" pitchFamily="18" charset="0"/>
              </a:rPr>
              <a:t>To implement a Vision Transformer (ViT) for analyzing eye images and extracting visual features.</a:t>
            </a:r>
          </a:p>
          <a:p>
            <a:r>
              <a:rPr lang="en-US" sz="2200" dirty="0">
                <a:latin typeface="Times New Roman" panose="02020603050405020304" pitchFamily="18" charset="0"/>
                <a:cs typeface="Times New Roman" panose="02020603050405020304" pitchFamily="18" charset="0"/>
              </a:rPr>
              <a:t>To combine both models using fusion technique with Explainable AI support</a:t>
            </a:r>
          </a:p>
        </p:txBody>
      </p:sp>
      <p:sp>
        <p:nvSpPr>
          <p:cNvPr id="5" name="Text Placeholder 4">
            <a:extLst>
              <a:ext uri="{FF2B5EF4-FFF2-40B4-BE49-F238E27FC236}">
                <a16:creationId xmlns:a16="http://schemas.microsoft.com/office/drawing/2014/main" id="{8575AA34-D88F-7E01-846C-E9E0AB9B0993}"/>
              </a:ext>
            </a:extLst>
          </p:cNvPr>
          <p:cNvSpPr>
            <a:spLocks noGrp="1"/>
          </p:cNvSpPr>
          <p:nvPr>
            <p:ph type="body" sz="quarter" idx="3"/>
          </p:nvPr>
        </p:nvSpPr>
        <p:spPr>
          <a:xfrm>
            <a:off x="6172200" y="668337"/>
            <a:ext cx="5183188" cy="1051406"/>
          </a:xfrm>
        </p:spPr>
        <p:txBody>
          <a:bodyPr>
            <a:normAutofit/>
          </a:bodyPr>
          <a:lstStyle/>
          <a:p>
            <a:r>
              <a:rPr lang="en-IN" sz="3600" b="0" dirty="0">
                <a:latin typeface="Times New Roman" panose="02020603050405020304" pitchFamily="18" charset="0"/>
                <a:cs typeface="Times New Roman" panose="02020603050405020304" pitchFamily="18" charset="0"/>
              </a:rPr>
              <a:t>Outcomes</a:t>
            </a:r>
          </a:p>
        </p:txBody>
      </p:sp>
      <p:sp>
        <p:nvSpPr>
          <p:cNvPr id="6" name="Content Placeholder 5">
            <a:extLst>
              <a:ext uri="{FF2B5EF4-FFF2-40B4-BE49-F238E27FC236}">
                <a16:creationId xmlns:a16="http://schemas.microsoft.com/office/drawing/2014/main" id="{52D88404-19F9-5F5E-1D4F-D0F57071E520}"/>
              </a:ext>
            </a:extLst>
          </p:cNvPr>
          <p:cNvSpPr>
            <a:spLocks noGrp="1"/>
          </p:cNvSpPr>
          <p:nvPr>
            <p:ph sz="quarter" idx="4"/>
          </p:nvPr>
        </p:nvSpPr>
        <p:spPr>
          <a:xfrm>
            <a:off x="6172200" y="2281806"/>
            <a:ext cx="5183188" cy="3907857"/>
          </a:xfrm>
        </p:spPr>
        <p:txBody>
          <a:bodyPr>
            <a:normAutofit/>
          </a:bodyPr>
          <a:lstStyle/>
          <a:p>
            <a:r>
              <a:rPr lang="en-US" sz="2200" dirty="0">
                <a:latin typeface="Times New Roman" panose="02020603050405020304" pitchFamily="18" charset="0"/>
                <a:cs typeface="Times New Roman" panose="02020603050405020304" pitchFamily="18" charset="0"/>
              </a:rPr>
              <a:t>Successfully built and trained multimodal models (RF + ViT) for depression detection.</a:t>
            </a:r>
          </a:p>
          <a:p>
            <a:r>
              <a:rPr lang="en-US" sz="2200" dirty="0">
                <a:latin typeface="Times New Roman" panose="02020603050405020304" pitchFamily="18" charset="0"/>
                <a:cs typeface="Times New Roman" panose="02020603050405020304" pitchFamily="18" charset="0"/>
              </a:rPr>
              <a:t>Achieved improved performance with a Fusion Accuracy.</a:t>
            </a:r>
          </a:p>
          <a:p>
            <a:r>
              <a:rPr lang="en-US" sz="2200" dirty="0">
                <a:latin typeface="Times New Roman" panose="02020603050405020304" pitchFamily="18" charset="0"/>
                <a:cs typeface="Times New Roman" panose="02020603050405020304" pitchFamily="18" charset="0"/>
              </a:rPr>
              <a:t>Generated interpretable results using SHAP feature importance and attention maps.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717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46" y="2028"/>
            <a:ext cx="12192635" cy="1188085"/>
          </a:xfrm>
        </p:spPr>
        <p:txBody>
          <a:bodyPr/>
          <a:lstStyle/>
          <a:p>
            <a:pPr algn="l"/>
            <a:r>
              <a:rPr lang="en-IN" sz="3600" dirty="0">
                <a:latin typeface="Times New Roman" panose="02020603050405020304" pitchFamily="18" charset="0"/>
                <a:cs typeface="Times New Roman" panose="02020603050405020304" pitchFamily="18" charset="0"/>
              </a:rPr>
              <a:t>  </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     Literature Review</a:t>
            </a:r>
          </a:p>
        </p:txBody>
      </p:sp>
      <p:graphicFrame>
        <p:nvGraphicFramePr>
          <p:cNvPr id="7" name="Table 6"/>
          <p:cNvGraphicFramePr>
            <a:graphicFrameLocks noGrp="1"/>
          </p:cNvGraphicFramePr>
          <p:nvPr>
            <p:extLst>
              <p:ext uri="{D42A27DB-BD31-4B8C-83A1-F6EECF244321}">
                <p14:modId xmlns:p14="http://schemas.microsoft.com/office/powerpoint/2010/main" val="797309348"/>
              </p:ext>
            </p:extLst>
          </p:nvPr>
        </p:nvGraphicFramePr>
        <p:xfrm>
          <a:off x="602901" y="1476462"/>
          <a:ext cx="11084972" cy="4739781"/>
        </p:xfrm>
        <a:graphic>
          <a:graphicData uri="http://schemas.openxmlformats.org/drawingml/2006/table">
            <a:tbl>
              <a:tblPr firstRow="1" bandRow="1">
                <a:tableStyleId>{5940675A-B579-460E-94D1-54222C63F5DA}</a:tableStyleId>
              </a:tblPr>
              <a:tblGrid>
                <a:gridCol w="643076">
                  <a:extLst>
                    <a:ext uri="{9D8B030D-6E8A-4147-A177-3AD203B41FA5}">
                      <a16:colId xmlns:a16="http://schemas.microsoft.com/office/drawing/2014/main" val="20000"/>
                    </a:ext>
                  </a:extLst>
                </a:gridCol>
                <a:gridCol w="2901483">
                  <a:extLst>
                    <a:ext uri="{9D8B030D-6E8A-4147-A177-3AD203B41FA5}">
                      <a16:colId xmlns:a16="http://schemas.microsoft.com/office/drawing/2014/main" val="20001"/>
                    </a:ext>
                  </a:extLst>
                </a:gridCol>
                <a:gridCol w="1725355">
                  <a:extLst>
                    <a:ext uri="{9D8B030D-6E8A-4147-A177-3AD203B41FA5}">
                      <a16:colId xmlns:a16="http://schemas.microsoft.com/office/drawing/2014/main" val="20002"/>
                    </a:ext>
                  </a:extLst>
                </a:gridCol>
                <a:gridCol w="2405847">
                  <a:extLst>
                    <a:ext uri="{9D8B030D-6E8A-4147-A177-3AD203B41FA5}">
                      <a16:colId xmlns:a16="http://schemas.microsoft.com/office/drawing/2014/main" val="20003"/>
                    </a:ext>
                  </a:extLst>
                </a:gridCol>
                <a:gridCol w="3409211">
                  <a:extLst>
                    <a:ext uri="{9D8B030D-6E8A-4147-A177-3AD203B41FA5}">
                      <a16:colId xmlns:a16="http://schemas.microsoft.com/office/drawing/2014/main" val="20004"/>
                    </a:ext>
                  </a:extLst>
                </a:gridCol>
              </a:tblGrid>
              <a:tr h="558210">
                <a:tc>
                  <a:txBody>
                    <a:bodyPr/>
                    <a:lstStyle/>
                    <a:p>
                      <a:r>
                        <a:rPr lang="en-US" sz="1400" b="1" dirty="0">
                          <a:latin typeface="Times New Roman" panose="02020603050405020304" pitchFamily="18" charset="0"/>
                          <a:cs typeface="Times New Roman" panose="02020603050405020304" pitchFamily="18" charset="0"/>
                        </a:rPr>
                        <a:t>S.NO</a:t>
                      </a:r>
                      <a:endParaRPr lang="en-IN" sz="1400" b="1" dirty="0">
                        <a:latin typeface="Times New Roman" panose="02020603050405020304" pitchFamily="18" charset="0"/>
                        <a:cs typeface="Times New Roman" panose="02020603050405020304" pitchFamily="18" charset="0"/>
                      </a:endParaRPr>
                    </a:p>
                  </a:txBody>
                  <a:tcPr/>
                </a:tc>
                <a:tc>
                  <a:txBody>
                    <a:bodyPr/>
                    <a:lstStyle/>
                    <a:p>
                      <a:r>
                        <a:rPr lang="en-IN" sz="1400" b="1" dirty="0">
                          <a:latin typeface="Times New Roman" panose="02020603050405020304" pitchFamily="18" charset="0"/>
                          <a:cs typeface="Times New Roman" panose="02020603050405020304" pitchFamily="18" charset="0"/>
                        </a:rPr>
                        <a:t>Publication Details</a:t>
                      </a:r>
                    </a:p>
                  </a:txBody>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sz="1400" b="1" dirty="0">
                          <a:latin typeface="Times New Roman" panose="02020603050405020304" pitchFamily="18" charset="0"/>
                          <a:cs typeface="Times New Roman" panose="02020603050405020304" pitchFamily="18" charset="0"/>
                        </a:rPr>
                        <a:t>Datasets</a:t>
                      </a:r>
                      <a:endParaRPr lang="en-IN" sz="1400" b="1" dirty="0">
                        <a:latin typeface="Times New Roman" panose="02020603050405020304" pitchFamily="18" charset="0"/>
                        <a:cs typeface="Times New Roman" panose="02020603050405020304" pitchFamily="18" charset="0"/>
                      </a:endParaRPr>
                    </a:p>
                    <a:p>
                      <a:endParaRPr lang="en-IN" sz="1400" b="1" dirty="0">
                        <a:latin typeface="Times New Roman" panose="02020603050405020304" pitchFamily="18" charset="0"/>
                        <a:cs typeface="Times New Roman" panose="02020603050405020304" pitchFamily="18" charset="0"/>
                      </a:endParaRPr>
                    </a:p>
                  </a:txBody>
                  <a:tcPr/>
                </a:tc>
                <a:tc>
                  <a:txBody>
                    <a:bodyPr/>
                    <a:lstStyle/>
                    <a:p>
                      <a:r>
                        <a:rPr lang="en-IN" sz="1400" b="1" dirty="0">
                          <a:latin typeface="Times New Roman" panose="02020603050405020304" pitchFamily="18" charset="0"/>
                          <a:cs typeface="Times New Roman" panose="02020603050405020304" pitchFamily="18" charset="0"/>
                        </a:rPr>
                        <a:t>Algorithms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b="1" dirty="0">
                          <a:latin typeface="Times New Roman" panose="02020603050405020304" pitchFamily="18" charset="0"/>
                          <a:cs typeface="Times New Roman" panose="02020603050405020304" pitchFamily="18" charset="0"/>
                        </a:rPr>
                        <a:t>Limitations</a:t>
                      </a:r>
                      <a:endParaRPr lang="en-IN"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782879">
                <a:tc>
                  <a:txBody>
                    <a:bodyPr/>
                    <a:lstStyle/>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Effective Depression Detection using ML, DL, NLP and XAI (Masud et al., 2025)</a:t>
                      </a:r>
                      <a:r>
                        <a:rPr lang="en-US" sz="1400" dirty="0">
                          <a:latin typeface="Times New Roman" panose="02020603050405020304" pitchFamily="18" charset="0"/>
                          <a:cs typeface="Times New Roman" panose="02020603050405020304" pitchFamily="18" charset="0"/>
                        </a:rPr>
                        <a:t>[1]</a:t>
                      </a:r>
                      <a:endParaRPr lang="en-IN" sz="14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en-US" sz="1400" dirty="0">
                          <a:latin typeface="Times New Roman" panose="02020603050405020304" pitchFamily="18" charset="0"/>
                          <a:cs typeface="Times New Roman" panose="02020603050405020304" pitchFamily="18" charset="0"/>
                        </a:rPr>
                        <a:t>Student dataset (survey-based, 1602 samples)</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 Random Forest, Logistic Regression, CNN, MLP, BERT, </a:t>
                      </a:r>
                      <a:r>
                        <a:rPr lang="en-US" sz="1400" dirty="0" err="1">
                          <a:latin typeface="Times New Roman" panose="02020603050405020304" pitchFamily="18" charset="0"/>
                          <a:cs typeface="Times New Roman" panose="02020603050405020304" pitchFamily="18" charset="0"/>
                        </a:rPr>
                        <a:t>RoBERTa</a:t>
                      </a:r>
                      <a:r>
                        <a:rPr lang="en-US" sz="1400" dirty="0">
                          <a:latin typeface="Times New Roman" panose="02020603050405020304" pitchFamily="18" charset="0"/>
                          <a:cs typeface="Times New Roman" panose="02020603050405020304" pitchFamily="18" charset="0"/>
                        </a:rPr>
                        <a:t>, SHAP, LIME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relies on a single survey-based dataset,</a:t>
                      </a:r>
                      <a:r>
                        <a:rPr lang="en-IN" sz="1400" dirty="0">
                          <a:latin typeface="Times New Roman" panose="02020603050405020304" pitchFamily="18" charset="0"/>
                          <a:cs typeface="Times New Roman" panose="02020603050405020304" pitchFamily="18" charset="0"/>
                        </a:rPr>
                        <a:t> bias in answers</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072744">
                <a:tc>
                  <a:txBody>
                    <a:bodyPr/>
                    <a:lstStyle/>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dirty="0">
                          <a:latin typeface="Times New Roman" panose="02020603050405020304" pitchFamily="18" charset="0"/>
                          <a:cs typeface="Times New Roman" panose="02020603050405020304" pitchFamily="18" charset="0"/>
                        </a:rPr>
                        <a:t>Artificial Intelligence-Based Depression Detection (Kiss &amp; Viktor, 2026) [2]</a:t>
                      </a:r>
                      <a:endParaRPr lang="en-US" sz="140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US" sz="1400" dirty="0">
                          <a:latin typeface="Times New Roman" panose="02020603050405020304" pitchFamily="18" charset="0"/>
                          <a:cs typeface="Times New Roman" panose="02020603050405020304" pitchFamily="18" charset="0"/>
                        </a:rPr>
                        <a:t>Pupillometry and eye movement data from 242 participants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CNN-LSTM model </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Requires specialized sensors and real-time eye-tracking setup</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25948">
                <a:tc gridSpan="5">
                  <a:txBody>
                    <a:bodyPr/>
                    <a:lstStyle/>
                    <a:p>
                      <a:endParaRPr lang="en-IN" sz="1400" dirty="0">
                        <a:latin typeface="Times New Roman" panose="02020603050405020304" pitchFamily="18" charset="0"/>
                        <a:cs typeface="Times New Roman" panose="02020603050405020304" pitchFamily="18" charset="0"/>
                      </a:endParaRPr>
                    </a:p>
                  </a:txBody>
                  <a:tcPr>
                    <a:lnL w="12700" cmpd="sng">
                      <a:noFill/>
                    </a:lnL>
                    <a:lnR w="12700" cmpd="sng">
                      <a:noFill/>
                    </a:lnR>
                    <a:lnB w="12700" cmpd="sng">
                      <a:noFill/>
                    </a:lnB>
                  </a:tcPr>
                </a:tc>
                <a:tc hMerge="1">
                  <a:txBody>
                    <a:bodyPr/>
                    <a:lstStyle/>
                    <a:p>
                      <a:endParaRPr lang="en-US"/>
                    </a:p>
                  </a:txBody>
                  <a:tcPr/>
                </a:tc>
                <a:tc hMerge="1">
                  <a:txBody>
                    <a:bodyPr/>
                    <a:lstStyle/>
                    <a:p>
                      <a:endParaRPr lang="en-US"/>
                    </a:p>
                  </a:txBody>
                  <a:tcPr>
                    <a:lnB w="12700" cmpd="sng">
                      <a:noFill/>
                    </a:lnB>
                  </a:tcPr>
                </a:tc>
                <a:tc hMerge="1">
                  <a:txBody>
                    <a:bodyPr/>
                    <a:lstStyle/>
                    <a:p>
                      <a:endParaRPr lang="en-US"/>
                    </a:p>
                  </a:txBody>
                  <a:tcPr>
                    <a:lnB w="12700" cmpd="sng">
                      <a:noFill/>
                    </a:lnB>
                  </a:tcPr>
                </a:tc>
                <a:tc hMerge="1">
                  <a:txBody>
                    <a:bodyPr/>
                    <a:lstStyle/>
                    <a:p>
                      <a:endParaRPr lang="en-US"/>
                    </a:p>
                  </a:txBody>
                  <a:tcPr>
                    <a:lnB w="12700" cmpd="sng">
                      <a:no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878941420"/>
              </p:ext>
            </p:extLst>
          </p:nvPr>
        </p:nvGraphicFramePr>
        <p:xfrm>
          <a:off x="687650" y="-629175"/>
          <a:ext cx="11047132" cy="6199465"/>
        </p:xfrm>
        <a:graphic>
          <a:graphicData uri="http://schemas.openxmlformats.org/drawingml/2006/table">
            <a:tbl>
              <a:tblPr firstRow="1" bandRow="1">
                <a:tableStyleId>{5940675A-B579-460E-94D1-54222C63F5DA}</a:tableStyleId>
              </a:tblPr>
              <a:tblGrid>
                <a:gridCol w="620395">
                  <a:extLst>
                    <a:ext uri="{9D8B030D-6E8A-4147-A177-3AD203B41FA5}">
                      <a16:colId xmlns:a16="http://schemas.microsoft.com/office/drawing/2014/main" val="20000"/>
                    </a:ext>
                  </a:extLst>
                </a:gridCol>
                <a:gridCol w="2879725">
                  <a:extLst>
                    <a:ext uri="{9D8B030D-6E8A-4147-A177-3AD203B41FA5}">
                      <a16:colId xmlns:a16="http://schemas.microsoft.com/office/drawing/2014/main" val="20001"/>
                    </a:ext>
                  </a:extLst>
                </a:gridCol>
                <a:gridCol w="1266019">
                  <a:extLst>
                    <a:ext uri="{9D8B030D-6E8A-4147-A177-3AD203B41FA5}">
                      <a16:colId xmlns:a16="http://schemas.microsoft.com/office/drawing/2014/main" val="20002"/>
                    </a:ext>
                  </a:extLst>
                </a:gridCol>
                <a:gridCol w="2882916">
                  <a:extLst>
                    <a:ext uri="{9D8B030D-6E8A-4147-A177-3AD203B41FA5}">
                      <a16:colId xmlns:a16="http://schemas.microsoft.com/office/drawing/2014/main" val="20003"/>
                    </a:ext>
                  </a:extLst>
                </a:gridCol>
                <a:gridCol w="3398077">
                  <a:extLst>
                    <a:ext uri="{9D8B030D-6E8A-4147-A177-3AD203B41FA5}">
                      <a16:colId xmlns:a16="http://schemas.microsoft.com/office/drawing/2014/main" val="20004"/>
                    </a:ext>
                  </a:extLst>
                </a:gridCol>
              </a:tblGrid>
              <a:tr h="970308">
                <a:tc gridSpan="5">
                  <a:txBody>
                    <a:bodyPr/>
                    <a:lstStyle/>
                    <a:p>
                      <a:endParaRPr lang="en-IN" sz="1400" b="1" dirty="0">
                        <a:latin typeface="Times New Roman" panose="02020603050405020304" pitchFamily="18" charset="0"/>
                        <a:cs typeface="Times New Roman" panose="02020603050405020304" pitchFamily="18" charset="0"/>
                      </a:endParaRPr>
                    </a:p>
                  </a:txBody>
                  <a:tcPr>
                    <a:lnL w="12700" cmpd="sng">
                      <a:noFill/>
                    </a:lnL>
                    <a:lnR w="12700" cmpd="sng">
                      <a:noFill/>
                    </a:ln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T w="12700" cmpd="sng">
                      <a:noFill/>
                    </a:lnT>
                  </a:tcPr>
                </a:tc>
                <a:extLst>
                  <a:ext uri="{0D108BD9-81ED-4DB2-BD59-A6C34878D82A}">
                    <a16:rowId xmlns:a16="http://schemas.microsoft.com/office/drawing/2014/main" val="10000"/>
                  </a:ext>
                </a:extLst>
              </a:tr>
              <a:tr h="1339560">
                <a:tc>
                  <a:txBody>
                    <a:bodyPr/>
                    <a:lstStyle/>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3.</a:t>
                      </a:r>
                    </a:p>
                  </a:txBody>
                  <a:tcPr/>
                </a:tc>
                <a:tc>
                  <a:txBody>
                    <a:bodyPr/>
                    <a:lstStyle/>
                    <a:p>
                      <a:r>
                        <a:rPr lang="en-US" sz="1400" dirty="0">
                          <a:latin typeface="Times New Roman" panose="02020603050405020304" pitchFamily="18" charset="0"/>
                          <a:cs typeface="Times New Roman" panose="02020603050405020304" pitchFamily="18" charset="0"/>
                        </a:rPr>
                        <a:t>Explainable AI Models for Predicting Depression using PSG Data (Enkhbayar et al., 2025)</a:t>
                      </a:r>
                      <a:r>
                        <a:rPr lang="en-IN" sz="1400" dirty="0">
                          <a:latin typeface="Times New Roman" panose="02020603050405020304" pitchFamily="18" charset="0"/>
                          <a:cs typeface="Times New Roman" panose="02020603050405020304" pitchFamily="18" charset="0"/>
                        </a:rPr>
                        <a:t>[3]</a:t>
                      </a:r>
                    </a:p>
                  </a:txBody>
                  <a:tcPr/>
                </a:tc>
                <a:tc>
                  <a:txBody>
                    <a:bodyPr/>
                    <a:lstStyle/>
                    <a:p>
                      <a:r>
                        <a:rPr lang="en-IN" sz="1400" dirty="0">
                          <a:latin typeface="Times New Roman" panose="02020603050405020304" pitchFamily="18" charset="0"/>
                          <a:cs typeface="Times New Roman" panose="02020603050405020304" pitchFamily="18" charset="0"/>
                        </a:rPr>
                        <a:t>Polysomnographic dataset (153 participants)</a:t>
                      </a:r>
                    </a:p>
                  </a:txBody>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sz="1400" dirty="0">
                          <a:latin typeface="Times New Roman" panose="02020603050405020304" pitchFamily="18" charset="0"/>
                          <a:cs typeface="Times New Roman" panose="02020603050405020304" pitchFamily="18" charset="0"/>
                        </a:rPr>
                        <a:t>Random Forest,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CatBoost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LightGBM</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domain-specific (sleep data),requires specialized equipment</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588780">
                <a:tc>
                  <a:txBody>
                    <a:bodyPr/>
                    <a:lstStyle/>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4.</a:t>
                      </a:r>
                    </a:p>
                  </a:txBody>
                  <a:tcPr/>
                </a:tc>
                <a:tc>
                  <a:txBody>
                    <a:bodyPr/>
                    <a:lstStyle/>
                    <a:p>
                      <a:r>
                        <a:rPr lang="en-IN" sz="1400" dirty="0">
                          <a:latin typeface="Times New Roman" panose="02020603050405020304" pitchFamily="18" charset="0"/>
                          <a:cs typeface="Times New Roman" panose="02020603050405020304" pitchFamily="18" charset="0"/>
                        </a:rPr>
                        <a:t>Explainable AI-driven Depression Detection from Social Media (Hameed et al., 2025) [4]</a:t>
                      </a:r>
                    </a:p>
                    <a:p>
                      <a:endParaRPr lang="en-US" sz="1400" b="0" i="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IN" sz="1400" dirty="0">
                          <a:latin typeface="Times New Roman" panose="02020603050405020304" pitchFamily="18" charset="0"/>
                          <a:cs typeface="Times New Roman" panose="02020603050405020304" pitchFamily="18" charset="0"/>
                        </a:rPr>
                        <a:t>Social media text data (Twitter, Reddit, etc.)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dirty="0">
                          <a:latin typeface="Times New Roman" panose="02020603050405020304" pitchFamily="18" charset="0"/>
                          <a:cs typeface="Times New Roman" panose="02020603050405020304" pitchFamily="18" charset="0"/>
                        </a:rPr>
                        <a:t>SVM, Random Forest,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ANN +LIME</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Relies on textual data </a:t>
                      </a:r>
                      <a:r>
                        <a:rPr lang="en-US" sz="1400" dirty="0" err="1">
                          <a:latin typeface="Times New Roman" panose="02020603050405020304" pitchFamily="18" charset="0"/>
                          <a:cs typeface="Times New Roman" panose="02020603050405020304" pitchFamily="18" charset="0"/>
                        </a:rPr>
                        <a:t>only,lacks</a:t>
                      </a:r>
                      <a:r>
                        <a:rPr lang="en-US" sz="1400" dirty="0">
                          <a:latin typeface="Times New Roman" panose="02020603050405020304" pitchFamily="18" charset="0"/>
                          <a:cs typeface="Times New Roman" panose="02020603050405020304" pitchFamily="18" charset="0"/>
                        </a:rPr>
                        <a:t> clinical validation </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2300817">
                <a:tc>
                  <a:txBody>
                    <a:bodyPr/>
                    <a:lstStyle/>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5</a:t>
                      </a:r>
                    </a:p>
                  </a:txBody>
                  <a:tcPr/>
                </a:tc>
                <a:tc>
                  <a:txBody>
                    <a:bodyPr/>
                    <a:lstStyle/>
                    <a:p>
                      <a:r>
                        <a:rPr lang="en-US" sz="1400" i="1" dirty="0" err="1">
                          <a:latin typeface="Times New Roman" panose="02020603050405020304" pitchFamily="18" charset="0"/>
                          <a:cs typeface="Times New Roman" panose="02020603050405020304" pitchFamily="18" charset="0"/>
                        </a:rPr>
                        <a:t>PupilSense</a:t>
                      </a:r>
                      <a:r>
                        <a:rPr lang="en-US" sz="1400" i="1" dirty="0">
                          <a:latin typeface="Times New Roman" panose="02020603050405020304" pitchFamily="18" charset="0"/>
                          <a:cs typeface="Times New Roman" panose="02020603050405020304" pitchFamily="18" charset="0"/>
                        </a:rPr>
                        <a:t>: Detection of Depressive Episodes Through Pupillary Response in the Wild</a:t>
                      </a:r>
                      <a:r>
                        <a:rPr lang="en-US" sz="1400" dirty="0">
                          <a:latin typeface="Times New Roman" panose="02020603050405020304" pitchFamily="18" charset="0"/>
                          <a:cs typeface="Times New Roman" panose="02020603050405020304" pitchFamily="18" charset="0"/>
                        </a:rPr>
                        <a:t> (Islam &amp; Bae, 2024)[5]</a:t>
                      </a:r>
                      <a:endParaRPr lang="en-US" sz="1400" b="0" i="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Real-world pupillary response data collected using mobile/portable sensor</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Signal processing of pupil dynamics + Machine Learning classifiers</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sensitive to lighting conditions, lack of multimodal inputs.</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774626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2E9CF-8707-EAE2-BCAA-1BAE630AF4A6}"/>
              </a:ext>
            </a:extLst>
          </p:cNvPr>
          <p:cNvSpPr>
            <a:spLocks noGrp="1"/>
          </p:cNvSpPr>
          <p:nvPr>
            <p:ph type="title"/>
          </p:nvPr>
        </p:nvSpPr>
        <p:spPr/>
        <p:txBody>
          <a:bodyPr/>
          <a:lstStyle/>
          <a:p>
            <a:pPr algn="l"/>
            <a:r>
              <a:rPr lang="en-IN" sz="4000" dirty="0">
                <a:latin typeface="Times New Roman" panose="02020603050405020304" pitchFamily="18" charset="0"/>
                <a:cs typeface="Times New Roman" panose="02020603050405020304" pitchFamily="18" charset="0"/>
              </a:rPr>
              <a:t>Research Gap</a:t>
            </a:r>
          </a:p>
        </p:txBody>
      </p:sp>
      <p:sp>
        <p:nvSpPr>
          <p:cNvPr id="3" name="Content Placeholder 2">
            <a:extLst>
              <a:ext uri="{FF2B5EF4-FFF2-40B4-BE49-F238E27FC236}">
                <a16:creationId xmlns:a16="http://schemas.microsoft.com/office/drawing/2014/main" id="{673BDD32-C224-4E87-22EA-05EF33FD5FA6}"/>
              </a:ext>
            </a:extLst>
          </p:cNvPr>
          <p:cNvSpPr>
            <a:spLocks noGrp="1"/>
          </p:cNvSpPr>
          <p:nvPr>
            <p:ph idx="1"/>
          </p:nvPr>
        </p:nvSpPr>
        <p:spPr/>
        <p:txBody>
          <a:bodyPr/>
          <a:lstStyle/>
          <a:p>
            <a:pPr>
              <a:buAutoNum type="arabicParenR"/>
            </a:pPr>
            <a:r>
              <a:rPr lang="en-IN" sz="1800" b="1" dirty="0">
                <a:latin typeface="Times New Roman" panose="02020603050405020304" pitchFamily="18" charset="0"/>
                <a:cs typeface="Times New Roman" panose="02020603050405020304" pitchFamily="18" charset="0"/>
              </a:rPr>
              <a:t>Lack of Multimodal Integration</a:t>
            </a:r>
            <a:r>
              <a:rPr lang="en-IN" sz="1800" dirty="0">
                <a:latin typeface="Times New Roman" panose="02020603050405020304" pitchFamily="18" charset="0"/>
                <a:cs typeface="Times New Roman" panose="02020603050405020304" pitchFamily="18" charset="0"/>
              </a:rPr>
              <a:t>: Most systems use only one type of data,</a:t>
            </a:r>
          </a:p>
          <a:p>
            <a:pPr marL="0" indent="0">
              <a:buNone/>
            </a:pPr>
            <a:r>
              <a:rPr lang="en-IN" sz="1800" dirty="0">
                <a:latin typeface="Times New Roman" panose="02020603050405020304" pitchFamily="18" charset="0"/>
                <a:cs typeface="Times New Roman" panose="02020603050405020304" pitchFamily="18" charset="0"/>
              </a:rPr>
              <a:t>survey (Masud et al., 2025)</a:t>
            </a:r>
          </a:p>
          <a:p>
            <a:pPr marL="0" indent="0">
              <a:buNone/>
            </a:pPr>
            <a:r>
              <a:rPr lang="en-IN" sz="1800" dirty="0">
                <a:latin typeface="Times New Roman" panose="02020603050405020304" pitchFamily="18" charset="0"/>
                <a:cs typeface="Times New Roman" panose="02020603050405020304" pitchFamily="18" charset="0"/>
              </a:rPr>
              <a:t>text (Hameed et al., 2025)</a:t>
            </a:r>
          </a:p>
          <a:p>
            <a:pPr marL="0" indent="0">
              <a:buNone/>
            </a:pPr>
            <a:r>
              <a:rPr lang="en-IN" sz="1800" dirty="0">
                <a:latin typeface="Times New Roman" panose="02020603050405020304" pitchFamily="18" charset="0"/>
                <a:cs typeface="Times New Roman" panose="02020603050405020304" pitchFamily="18" charset="0"/>
              </a:rPr>
              <a:t>physiological signals (Kiss &amp; Viktor, 2026; Islam &amp; Bae, 2024)</a:t>
            </a:r>
          </a:p>
          <a:p>
            <a:pPr marL="0" indent="0">
              <a:buNone/>
            </a:pPr>
            <a:r>
              <a:rPr lang="en-IN" sz="1800" dirty="0">
                <a:latin typeface="Times New Roman" panose="02020603050405020304" pitchFamily="18" charset="0"/>
                <a:cs typeface="Times New Roman" panose="02020603050405020304" pitchFamily="18" charset="0"/>
              </a:rPr>
              <a:t>sleep data (Enkhbayar et al., 2025)  which cannot capture the complete mental state.</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a:t>
            </a:r>
            <a:r>
              <a:rPr lang="en-IN" sz="1800" b="1" dirty="0">
                <a:latin typeface="Times New Roman" panose="02020603050405020304" pitchFamily="18" charset="0"/>
                <a:cs typeface="Times New Roman" panose="02020603050405020304" pitchFamily="18" charset="0"/>
              </a:rPr>
              <a:t>Lack of Explainability </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Many models act as black-box (Kiss &amp; Viktor, 2026)</a:t>
            </a:r>
          </a:p>
          <a:p>
            <a:pPr marL="0" indent="0">
              <a:buNone/>
            </a:pPr>
            <a:r>
              <a:rPr lang="en-IN" sz="1800" dirty="0">
                <a:latin typeface="Times New Roman" panose="02020603050405020304" pitchFamily="18" charset="0"/>
                <a:cs typeface="Times New Roman" panose="02020603050405020304" pitchFamily="18" charset="0"/>
              </a:rPr>
              <a:t>have limited explanations (Islam &amp; Bae, 2024)</a:t>
            </a:r>
          </a:p>
          <a:p>
            <a:pPr marL="0" indent="0">
              <a:buNone/>
            </a:pPr>
            <a:r>
              <a:rPr lang="en-IN" sz="1800" dirty="0">
                <a:latin typeface="Times New Roman" panose="02020603050405020304" pitchFamily="18" charset="0"/>
                <a:cs typeface="Times New Roman" panose="02020603050405020304" pitchFamily="18" charset="0"/>
              </a:rPr>
              <a:t>Reduces trust in real-world use</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There is a  need for  Multimodal + Explainable AI-based system</a:t>
            </a:r>
          </a:p>
        </p:txBody>
      </p:sp>
    </p:spTree>
    <p:extLst>
      <p:ext uri="{BB962C8B-B14F-4D97-AF65-F5344CB8AC3E}">
        <p14:creationId xmlns:p14="http://schemas.microsoft.com/office/powerpoint/2010/main" val="1188021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BF763-0CC3-B436-3B19-A2A8AB999F3D}"/>
              </a:ext>
            </a:extLst>
          </p:cNvPr>
          <p:cNvSpPr>
            <a:spLocks noGrp="1"/>
          </p:cNvSpPr>
          <p:nvPr>
            <p:ph type="title"/>
          </p:nvPr>
        </p:nvSpPr>
        <p:spPr>
          <a:xfrm>
            <a:off x="838200" y="365125"/>
            <a:ext cx="10515600" cy="1061003"/>
          </a:xfrm>
        </p:spPr>
        <p:txBody>
          <a:bodyPr>
            <a:normAutofit/>
          </a:bodyPr>
          <a:lstStyle/>
          <a:p>
            <a:r>
              <a:rPr lang="en-IN" sz="3600" dirty="0">
                <a:latin typeface="Times New Roman" panose="02020603050405020304" pitchFamily="18" charset="0"/>
                <a:cs typeface="Times New Roman" panose="02020603050405020304" pitchFamily="18" charset="0"/>
              </a:rPr>
              <a:t>Datasets and Requirements</a:t>
            </a:r>
          </a:p>
        </p:txBody>
      </p:sp>
      <p:sp>
        <p:nvSpPr>
          <p:cNvPr id="6" name="Content Placeholder 5">
            <a:extLst>
              <a:ext uri="{FF2B5EF4-FFF2-40B4-BE49-F238E27FC236}">
                <a16:creationId xmlns:a16="http://schemas.microsoft.com/office/drawing/2014/main" id="{96472032-A74D-7FFD-047C-7331002B92DD}"/>
              </a:ext>
            </a:extLst>
          </p:cNvPr>
          <p:cNvSpPr>
            <a:spLocks noGrp="1"/>
          </p:cNvSpPr>
          <p:nvPr>
            <p:ph idx="1"/>
          </p:nvPr>
        </p:nvSpPr>
        <p:spPr>
          <a:xfrm>
            <a:off x="838200" y="1308684"/>
            <a:ext cx="10515600" cy="4868280"/>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Participants:</a:t>
            </a:r>
            <a:r>
              <a:rPr lang="en-IN" sz="2000" dirty="0">
                <a:latin typeface="Times New Roman" panose="02020603050405020304" pitchFamily="18" charset="0"/>
                <a:cs typeface="Times New Roman" panose="02020603050405020304" pitchFamily="18" charset="0"/>
              </a:rPr>
              <a:t> Individuals providing Patient Health questionnaire-9 responses</a:t>
            </a:r>
          </a:p>
          <a:p>
            <a:pPr marL="0" indent="0">
              <a:buNone/>
            </a:pP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Data Collected: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PHQ-9 Responses:</a:t>
            </a:r>
            <a:r>
              <a:rPr lang="en-IN" sz="2000" dirty="0">
                <a:latin typeface="Times New Roman" panose="02020603050405020304" pitchFamily="18" charset="0"/>
                <a:cs typeface="Times New Roman" panose="02020603050405020304" pitchFamily="18" charset="0"/>
              </a:rPr>
              <a:t> 9-item questionnaire scores (0–3 per question)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Total Score:</a:t>
            </a:r>
            <a:r>
              <a:rPr lang="en-IN" sz="2000" dirty="0">
                <a:latin typeface="Times New Roman" panose="02020603050405020304" pitchFamily="18" charset="0"/>
                <a:cs typeface="Times New Roman" panose="02020603050405020304" pitchFamily="18" charset="0"/>
              </a:rPr>
              <a:t> Used as an additional feature for classification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Severity Labels:</a:t>
            </a:r>
            <a:r>
              <a:rPr lang="en-IN" sz="2000" dirty="0">
                <a:latin typeface="Times New Roman" panose="02020603050405020304" pitchFamily="18" charset="0"/>
                <a:cs typeface="Times New Roman" panose="02020603050405020304" pitchFamily="18" charset="0"/>
              </a:rPr>
              <a:t> Minimal, Mild, Moderate, Moderately Severe, Severe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Eye Images:</a:t>
            </a:r>
            <a:r>
              <a:rPr lang="en-IN" sz="2000" dirty="0">
                <a:latin typeface="Times New Roman" panose="02020603050405020304" pitchFamily="18" charset="0"/>
                <a:cs typeface="Times New Roman" panose="02020603050405020304" pitchFamily="18" charset="0"/>
              </a:rPr>
              <a:t> Collected and categorized into corresponding severity classes</a:t>
            </a:r>
          </a:p>
          <a:p>
            <a:pPr marL="0" indent="0">
              <a:buNone/>
            </a:pPr>
            <a:r>
              <a:rPr lang="en-IN" sz="2000" b="1" dirty="0">
                <a:latin typeface="Times New Roman" panose="02020603050405020304" pitchFamily="18" charset="0"/>
                <a:cs typeface="Times New Roman" panose="02020603050405020304" pitchFamily="18" charset="0"/>
              </a:rPr>
              <a:t>Data Storage:</a:t>
            </a:r>
            <a:r>
              <a:rPr lang="en-IN" sz="2000" dirty="0">
                <a:latin typeface="Times New Roman" panose="02020603050405020304" pitchFamily="18" charset="0"/>
                <a:cs typeface="Times New Roman" panose="02020603050405020304" pitchFamily="18" charset="0"/>
              </a:rPr>
              <a:t> Stored in labels.csv with fields: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ParticipantID</a:t>
            </a:r>
            <a:r>
              <a:rPr lang="en-IN" sz="2000" dirty="0">
                <a:latin typeface="Times New Roman" panose="02020603050405020304" pitchFamily="18" charset="0"/>
                <a:cs typeface="Times New Roman" panose="02020603050405020304" pitchFamily="18" charset="0"/>
              </a:rPr>
              <a:t>, Responses, </a:t>
            </a:r>
            <a:r>
              <a:rPr lang="en-IN" sz="2000" dirty="0" err="1">
                <a:latin typeface="Times New Roman" panose="02020603050405020304" pitchFamily="18" charset="0"/>
                <a:cs typeface="Times New Roman" panose="02020603050405020304" pitchFamily="18" charset="0"/>
              </a:rPr>
              <a:t>TotalScore</a:t>
            </a:r>
            <a:r>
              <a:rPr lang="en-IN" sz="2000" dirty="0">
                <a:latin typeface="Times New Roman" panose="02020603050405020304" pitchFamily="18" charset="0"/>
                <a:cs typeface="Times New Roman" panose="02020603050405020304" pitchFamily="18" charset="0"/>
              </a:rPr>
              <a:t>, Severity</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Image Details: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Resolution: Resized to 224×224 pixels (for ViT model)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Format: JPG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Organized into class-wise folders</a:t>
            </a:r>
          </a:p>
          <a:p>
            <a:pPr marL="0" indent="0">
              <a:buNone/>
            </a:pPr>
            <a:endParaRPr lang="en-IN" dirty="0"/>
          </a:p>
        </p:txBody>
      </p:sp>
    </p:spTree>
    <p:extLst>
      <p:ext uri="{BB962C8B-B14F-4D97-AF65-F5344CB8AC3E}">
        <p14:creationId xmlns:p14="http://schemas.microsoft.com/office/powerpoint/2010/main" val="3603730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266B63-F52F-DC74-A544-9659064F6C5C}"/>
              </a:ext>
            </a:extLst>
          </p:cNvPr>
          <p:cNvSpPr>
            <a:spLocks noGrp="1"/>
          </p:cNvSpPr>
          <p:nvPr>
            <p:ph idx="1"/>
          </p:nvPr>
        </p:nvSpPr>
        <p:spPr>
          <a:xfrm>
            <a:off x="838200" y="604007"/>
            <a:ext cx="10515600" cy="5572956"/>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Software Requirements:</a:t>
            </a:r>
          </a:p>
          <a:p>
            <a:pPr marL="0" indent="0">
              <a:buNone/>
            </a:pPr>
            <a:r>
              <a:rPr lang="en-IN" sz="2000" dirty="0">
                <a:latin typeface="Times New Roman" panose="02020603050405020304" pitchFamily="18" charset="0"/>
                <a:cs typeface="Times New Roman" panose="02020603050405020304" pitchFamily="18" charset="0"/>
              </a:rPr>
              <a:t>Programming Language: Python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Libraries Used: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NumPy, Pandas – Data Processing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scikit-learn – Random Forest Model</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Torchvision</a:t>
            </a:r>
            <a:r>
              <a:rPr lang="en-IN" sz="2000" dirty="0">
                <a:latin typeface="Times New Roman" panose="02020603050405020304" pitchFamily="18" charset="0"/>
                <a:cs typeface="Times New Roman" panose="02020603050405020304" pitchFamily="18" charset="0"/>
              </a:rPr>
              <a:t> – Vision Transformer</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Matplotlib – Visualization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 SHAP – Explainable AI</a:t>
            </a:r>
          </a:p>
          <a:p>
            <a:pPr marL="0" indent="0">
              <a:buNone/>
            </a:pPr>
            <a:endParaRPr lang="en-IN" sz="2000" b="1"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Hardware Requirements:</a:t>
            </a:r>
          </a:p>
          <a:p>
            <a:pPr marL="0" indent="0">
              <a:buNone/>
            </a:pPr>
            <a:r>
              <a:rPr lang="en-IN" sz="2000" dirty="0"/>
              <a:t>• </a:t>
            </a:r>
            <a:r>
              <a:rPr lang="en-IN" sz="2000" dirty="0">
                <a:latin typeface="Times New Roman" panose="02020603050405020304" pitchFamily="18" charset="0"/>
                <a:cs typeface="Times New Roman" panose="02020603050405020304" pitchFamily="18" charset="0"/>
              </a:rPr>
              <a:t>System with minimum 8GB RAM</a:t>
            </a:r>
          </a:p>
          <a:p>
            <a:pPr marL="0" indent="0">
              <a:buNone/>
            </a:pP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Storage for datasets and model files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endParaRPr lang="en-IN" dirty="0"/>
          </a:p>
          <a:p>
            <a:endParaRPr lang="en-IN" dirty="0"/>
          </a:p>
        </p:txBody>
      </p:sp>
    </p:spTree>
    <p:extLst>
      <p:ext uri="{BB962C8B-B14F-4D97-AF65-F5344CB8AC3E}">
        <p14:creationId xmlns:p14="http://schemas.microsoft.com/office/powerpoint/2010/main" val="2137760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02DEC-756D-4105-2F3D-72EF2D1B747E}"/>
              </a:ext>
            </a:extLst>
          </p:cNvPr>
          <p:cNvSpPr>
            <a:spLocks noGrp="1"/>
          </p:cNvSpPr>
          <p:nvPr>
            <p:ph type="title"/>
          </p:nvPr>
        </p:nvSpPr>
        <p:spPr>
          <a:xfrm>
            <a:off x="838200" y="365125"/>
            <a:ext cx="10515600" cy="910002"/>
          </a:xfrm>
        </p:spPr>
        <p:txBody>
          <a:bodyPr>
            <a:normAutofit/>
          </a:bodyPr>
          <a:lstStyle/>
          <a:p>
            <a:r>
              <a:rPr lang="en-IN" sz="3600" dirty="0">
                <a:latin typeface="Times New Roman" panose="02020603050405020304" pitchFamily="18" charset="0"/>
                <a:cs typeface="Times New Roman" panose="02020603050405020304" pitchFamily="18" charset="0"/>
              </a:rPr>
              <a:t>Algorithms used in the Project:</a:t>
            </a:r>
          </a:p>
        </p:txBody>
      </p:sp>
      <p:sp>
        <p:nvSpPr>
          <p:cNvPr id="3" name="Content Placeholder 2">
            <a:extLst>
              <a:ext uri="{FF2B5EF4-FFF2-40B4-BE49-F238E27FC236}">
                <a16:creationId xmlns:a16="http://schemas.microsoft.com/office/drawing/2014/main" id="{856B4F71-0CBA-201E-94E0-58F3625309A8}"/>
              </a:ext>
            </a:extLst>
          </p:cNvPr>
          <p:cNvSpPr>
            <a:spLocks noGrp="1"/>
          </p:cNvSpPr>
          <p:nvPr>
            <p:ph idx="1"/>
          </p:nvPr>
        </p:nvSpPr>
        <p:spPr>
          <a:xfrm>
            <a:off x="838200" y="1652631"/>
            <a:ext cx="10515600" cy="4524332"/>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Random Forest (Patient Health </a:t>
            </a:r>
            <a:r>
              <a:rPr lang="en-IN" sz="2400" b="1" dirty="0">
                <a:latin typeface="Times New Roman" panose="02020603050405020304" pitchFamily="18" charset="0"/>
                <a:cs typeface="Times New Roman" panose="02020603050405020304" pitchFamily="18" charset="0"/>
              </a:rPr>
              <a:t>Questionnaire</a:t>
            </a:r>
            <a:r>
              <a:rPr lang="en-US" sz="2400" b="1" dirty="0">
                <a:latin typeface="Times New Roman" panose="02020603050405020304" pitchFamily="18" charset="0"/>
                <a:cs typeface="Times New Roman" panose="02020603050405020304" pitchFamily="18" charset="0"/>
              </a:rPr>
              <a:t>-9 Data)</a:t>
            </a:r>
          </a:p>
          <a:p>
            <a:r>
              <a:rPr lang="en-US" sz="2400" dirty="0">
                <a:latin typeface="Times New Roman" panose="02020603050405020304" pitchFamily="18" charset="0"/>
                <a:cs typeface="Times New Roman" panose="02020603050405020304" pitchFamily="18" charset="0"/>
              </a:rPr>
              <a:t>Ensemble model using multiple decision trees </a:t>
            </a:r>
          </a:p>
          <a:p>
            <a:r>
              <a:rPr lang="en-US" sz="2400" dirty="0">
                <a:latin typeface="Times New Roman" panose="02020603050405020304" pitchFamily="18" charset="0"/>
                <a:cs typeface="Times New Roman" panose="02020603050405020304" pitchFamily="18" charset="0"/>
              </a:rPr>
              <a:t>Works well on structured questionnaire data </a:t>
            </a:r>
          </a:p>
          <a:p>
            <a:r>
              <a:rPr lang="en-US" sz="2400" dirty="0">
                <a:latin typeface="Times New Roman" panose="02020603050405020304" pitchFamily="18" charset="0"/>
                <a:cs typeface="Times New Roman" panose="02020603050405020304" pitchFamily="18" charset="0"/>
              </a:rPr>
              <a:t>Reduces overfitting </a:t>
            </a:r>
          </a:p>
          <a:p>
            <a:pPr marL="0" indent="0">
              <a:buNone/>
            </a:pPr>
            <a:endParaRPr lang="en-US" sz="2400" b="1" dirty="0"/>
          </a:p>
          <a:p>
            <a:pPr marL="0" indent="0">
              <a:buNone/>
            </a:pPr>
            <a:r>
              <a:rPr lang="en-US" sz="2400" b="1" dirty="0">
                <a:latin typeface="Times New Roman" panose="02020603050405020304" pitchFamily="18" charset="0"/>
                <a:cs typeface="Times New Roman" panose="02020603050405020304" pitchFamily="18" charset="0"/>
              </a:rPr>
              <a:t>Output: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Predicts depression severity </a:t>
            </a:r>
          </a:p>
          <a:p>
            <a:r>
              <a:rPr lang="en-US" sz="2400" dirty="0">
                <a:latin typeface="Times New Roman" panose="02020603050405020304" pitchFamily="18" charset="0"/>
                <a:cs typeface="Times New Roman" panose="02020603050405020304" pitchFamily="18" charset="0"/>
              </a:rPr>
              <a:t>Provides feature importance (SHAP)</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7197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510FD6-7612-195F-3276-FE0D704B231D}"/>
              </a:ext>
            </a:extLst>
          </p:cNvPr>
          <p:cNvSpPr>
            <a:spLocks noGrp="1"/>
          </p:cNvSpPr>
          <p:nvPr>
            <p:ph idx="1"/>
          </p:nvPr>
        </p:nvSpPr>
        <p:spPr>
          <a:xfrm>
            <a:off x="838200" y="587229"/>
            <a:ext cx="10515600" cy="5589734"/>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Vision Transformer (Eye Images)</a:t>
            </a:r>
          </a:p>
          <a:p>
            <a:pPr marL="0" indent="0">
              <a:buNone/>
            </a:pP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Splits image into patches </a:t>
            </a:r>
          </a:p>
          <a:p>
            <a:r>
              <a:rPr lang="en-IN" sz="2400" dirty="0">
                <a:latin typeface="Times New Roman" panose="02020603050405020304" pitchFamily="18" charset="0"/>
                <a:cs typeface="Times New Roman" panose="02020603050405020304" pitchFamily="18" charset="0"/>
              </a:rPr>
              <a:t>Uses self-attention mechanism </a:t>
            </a:r>
          </a:p>
          <a:p>
            <a:r>
              <a:rPr lang="en-IN" sz="2400" dirty="0">
                <a:latin typeface="Times New Roman" panose="02020603050405020304" pitchFamily="18" charset="0"/>
                <a:cs typeface="Times New Roman" panose="02020603050405020304" pitchFamily="18" charset="0"/>
              </a:rPr>
              <a:t>Captures global visual features </a:t>
            </a:r>
          </a:p>
          <a:p>
            <a:endParaRPr lang="en-IN" sz="24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Output: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Classifies eye images into severity levels </a:t>
            </a:r>
          </a:p>
          <a:p>
            <a:r>
              <a:rPr lang="en-IN" sz="2400" dirty="0">
                <a:latin typeface="Times New Roman" panose="02020603050405020304" pitchFamily="18" charset="0"/>
                <a:cs typeface="Times New Roman" panose="02020603050405020304" pitchFamily="18" charset="0"/>
              </a:rPr>
              <a:t>Generates attention maps for explanation</a:t>
            </a:r>
          </a:p>
        </p:txBody>
      </p:sp>
    </p:spTree>
    <p:extLst>
      <p:ext uri="{BB962C8B-B14F-4D97-AF65-F5344CB8AC3E}">
        <p14:creationId xmlns:p14="http://schemas.microsoft.com/office/powerpoint/2010/main" val="1563341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64B260-D272-0405-4A9B-50774A8AFEC8}"/>
              </a:ext>
            </a:extLst>
          </p:cNvPr>
          <p:cNvSpPr>
            <a:spLocks noGrp="1"/>
          </p:cNvSpPr>
          <p:nvPr>
            <p:ph idx="1"/>
          </p:nvPr>
        </p:nvSpPr>
        <p:spPr>
          <a:xfrm>
            <a:off x="930479" y="880844"/>
            <a:ext cx="10515600" cy="5304508"/>
          </a:xfrm>
        </p:spPr>
        <p:txBody>
          <a:bodyPr/>
          <a:lstStyle/>
          <a:p>
            <a:pPr marL="0" indent="0">
              <a:buNone/>
            </a:pPr>
            <a:r>
              <a:rPr lang="en-IN" sz="2400" b="1" dirty="0">
                <a:latin typeface="Times New Roman" panose="02020603050405020304" pitchFamily="18" charset="0"/>
                <a:cs typeface="Times New Roman" panose="02020603050405020304" pitchFamily="18" charset="0"/>
              </a:rPr>
              <a:t>Fusion Model  and Explainability</a:t>
            </a:r>
            <a:endParaRPr lang="en-IN" dirty="0"/>
          </a:p>
          <a:p>
            <a:r>
              <a:rPr lang="en-IN" sz="2400" dirty="0">
                <a:latin typeface="Times New Roman" panose="02020603050405020304" pitchFamily="18" charset="0"/>
                <a:cs typeface="Times New Roman" panose="02020603050405020304" pitchFamily="18" charset="0"/>
              </a:rPr>
              <a:t>Combines RF + </a:t>
            </a:r>
            <a:r>
              <a:rPr lang="en-IN" sz="2400" dirty="0" err="1">
                <a:latin typeface="Times New Roman" panose="02020603050405020304" pitchFamily="18" charset="0"/>
                <a:cs typeface="Times New Roman" panose="02020603050405020304" pitchFamily="18" charset="0"/>
              </a:rPr>
              <a:t>ViT</a:t>
            </a:r>
            <a:r>
              <a:rPr lang="en-IN" sz="2400" dirty="0">
                <a:latin typeface="Times New Roman" panose="02020603050405020304" pitchFamily="18" charset="0"/>
                <a:cs typeface="Times New Roman" panose="02020603050405020304" pitchFamily="18" charset="0"/>
              </a:rPr>
              <a:t> outputs </a:t>
            </a:r>
          </a:p>
          <a:p>
            <a:r>
              <a:rPr lang="en-IN" sz="2400" dirty="0">
                <a:latin typeface="Times New Roman" panose="02020603050405020304" pitchFamily="18" charset="0"/>
                <a:cs typeface="Times New Roman" panose="02020603050405020304" pitchFamily="18" charset="0"/>
              </a:rPr>
              <a:t>Uses weighted averaging </a:t>
            </a:r>
          </a:p>
          <a:p>
            <a:r>
              <a:rPr lang="en-IN" sz="2400" dirty="0">
                <a:latin typeface="Times New Roman" panose="02020603050405020304" pitchFamily="18" charset="0"/>
                <a:cs typeface="Times New Roman" panose="02020603050405020304" pitchFamily="18" charset="0"/>
              </a:rPr>
              <a:t>Improves robustness </a:t>
            </a:r>
          </a:p>
          <a:p>
            <a:endParaRPr lang="en-IN"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Explainability:</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Shapely Additive Explanations for questionnaire features </a:t>
            </a:r>
          </a:p>
          <a:p>
            <a:r>
              <a:rPr lang="en-IN" sz="2400" dirty="0">
                <a:latin typeface="Times New Roman" panose="02020603050405020304" pitchFamily="18" charset="0"/>
                <a:cs typeface="Times New Roman" panose="02020603050405020304" pitchFamily="18" charset="0"/>
              </a:rPr>
              <a:t>Attention maps for  image regions</a:t>
            </a:r>
          </a:p>
          <a:p>
            <a:endParaRPr lang="en-IN" dirty="0"/>
          </a:p>
        </p:txBody>
      </p:sp>
    </p:spTree>
    <p:extLst>
      <p:ext uri="{BB962C8B-B14F-4D97-AF65-F5344CB8AC3E}">
        <p14:creationId xmlns:p14="http://schemas.microsoft.com/office/powerpoint/2010/main" val="2081417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C947-0C55-D2D3-ED6C-07E39665FCA5}"/>
              </a:ext>
            </a:extLst>
          </p:cNvPr>
          <p:cNvSpPr>
            <a:spLocks noGrp="1"/>
          </p:cNvSpPr>
          <p:nvPr>
            <p:ph type="title"/>
          </p:nvPr>
        </p:nvSpPr>
        <p:spPr>
          <a:xfrm>
            <a:off x="838200" y="176170"/>
            <a:ext cx="10515600" cy="780176"/>
          </a:xfrm>
        </p:spPr>
        <p:txBody>
          <a:bodyPr>
            <a:normAutofit/>
          </a:bodyPr>
          <a:lstStyle/>
          <a:p>
            <a:r>
              <a:rPr lang="en-IN" sz="3600" dirty="0">
                <a:latin typeface="Times New Roman" panose="02020603050405020304" pitchFamily="18" charset="0"/>
                <a:cs typeface="Times New Roman" panose="02020603050405020304" pitchFamily="18" charset="0"/>
              </a:rPr>
              <a:t>Architecture Diagram</a:t>
            </a:r>
          </a:p>
        </p:txBody>
      </p:sp>
      <p:pic>
        <p:nvPicPr>
          <p:cNvPr id="5" name="Content Placeholder 4">
            <a:extLst>
              <a:ext uri="{FF2B5EF4-FFF2-40B4-BE49-F238E27FC236}">
                <a16:creationId xmlns:a16="http://schemas.microsoft.com/office/drawing/2014/main" id="{C5926478-09C2-EDFD-FDE0-EB656009FDA4}"/>
              </a:ext>
            </a:extLst>
          </p:cNvPr>
          <p:cNvPicPr>
            <a:picLocks noGrp="1" noChangeAspect="1"/>
          </p:cNvPicPr>
          <p:nvPr>
            <p:ph idx="1"/>
          </p:nvPr>
        </p:nvPicPr>
        <p:blipFill>
          <a:blip r:embed="rId3"/>
          <a:stretch>
            <a:fillRect/>
          </a:stretch>
        </p:blipFill>
        <p:spPr>
          <a:xfrm>
            <a:off x="374031" y="796954"/>
            <a:ext cx="11443938" cy="5712903"/>
          </a:xfrm>
          <a:prstGeom prst="rect">
            <a:avLst/>
          </a:prstGeom>
        </p:spPr>
      </p:pic>
    </p:spTree>
    <p:extLst>
      <p:ext uri="{BB962C8B-B14F-4D97-AF65-F5344CB8AC3E}">
        <p14:creationId xmlns:p14="http://schemas.microsoft.com/office/powerpoint/2010/main" val="373224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137EF-95BF-364E-A818-3E6FB2EC99BE}"/>
              </a:ext>
            </a:extLst>
          </p:cNvPr>
          <p:cNvSpPr>
            <a:spLocks noGrp="1"/>
          </p:cNvSpPr>
          <p:nvPr>
            <p:ph type="title"/>
          </p:nvPr>
        </p:nvSpPr>
        <p:spPr>
          <a:xfrm>
            <a:off x="838200" y="365125"/>
            <a:ext cx="10515600" cy="1061003"/>
          </a:xfrm>
        </p:spPr>
        <p:txBody>
          <a:bodyPr>
            <a:normAutofit/>
          </a:bodyPr>
          <a:lstStyle/>
          <a:p>
            <a:r>
              <a:rPr lang="en-IN" sz="3600" dirty="0">
                <a:latin typeface="Times New Roman" panose="02020603050405020304" pitchFamily="18" charset="0"/>
                <a:cs typeface="Times New Roman" panose="02020603050405020304" pitchFamily="18" charset="0"/>
              </a:rPr>
              <a:t>Implementation Steps and Execution</a:t>
            </a:r>
          </a:p>
        </p:txBody>
      </p:sp>
      <p:sp>
        <p:nvSpPr>
          <p:cNvPr id="3" name="Content Placeholder 2">
            <a:extLst>
              <a:ext uri="{FF2B5EF4-FFF2-40B4-BE49-F238E27FC236}">
                <a16:creationId xmlns:a16="http://schemas.microsoft.com/office/drawing/2014/main" id="{A6CC8A43-3C6A-81CB-5F19-5AF42B8AE42B}"/>
              </a:ext>
            </a:extLst>
          </p:cNvPr>
          <p:cNvSpPr>
            <a:spLocks noGrp="1"/>
          </p:cNvSpPr>
          <p:nvPr>
            <p:ph idx="1"/>
          </p:nvPr>
        </p:nvSpPr>
        <p:spPr>
          <a:xfrm>
            <a:off x="838200" y="1426128"/>
            <a:ext cx="10515600" cy="4750835"/>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Implementation of Random Forest Model</a:t>
            </a:r>
          </a:p>
          <a:p>
            <a:pPr marL="0" indent="0">
              <a:buNone/>
            </a:pPr>
            <a:endParaRPr lang="en-IN" sz="24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Load PHQ-9 dataset (labels.csv) </a:t>
            </a:r>
          </a:p>
          <a:p>
            <a:r>
              <a:rPr lang="en-IN" sz="2000" dirty="0">
                <a:latin typeface="Times New Roman" panose="02020603050405020304" pitchFamily="18" charset="0"/>
                <a:cs typeface="Times New Roman" panose="02020603050405020304" pitchFamily="18" charset="0"/>
              </a:rPr>
              <a:t>Convert responses into feature columns </a:t>
            </a:r>
          </a:p>
          <a:p>
            <a:r>
              <a:rPr lang="en-IN" sz="2000" dirty="0">
                <a:latin typeface="Times New Roman" panose="02020603050405020304" pitchFamily="18" charset="0"/>
                <a:cs typeface="Times New Roman" panose="02020603050405020304" pitchFamily="18" charset="0"/>
              </a:rPr>
              <a:t>Encode severity labels </a:t>
            </a:r>
          </a:p>
          <a:p>
            <a:r>
              <a:rPr lang="en-IN" sz="2000" dirty="0">
                <a:latin typeface="Times New Roman" panose="02020603050405020304" pitchFamily="18" charset="0"/>
                <a:cs typeface="Times New Roman" panose="02020603050405020304" pitchFamily="18" charset="0"/>
              </a:rPr>
              <a:t>Split into training &amp; testing data </a:t>
            </a:r>
          </a:p>
          <a:p>
            <a:r>
              <a:rPr lang="en-IN" sz="2000" dirty="0">
                <a:latin typeface="Times New Roman" panose="02020603050405020304" pitchFamily="18" charset="0"/>
                <a:cs typeface="Times New Roman" panose="02020603050405020304" pitchFamily="18" charset="0"/>
              </a:rPr>
              <a:t>Train Random Forest model </a:t>
            </a:r>
          </a:p>
          <a:p>
            <a:r>
              <a:rPr lang="en-IN" sz="2000" dirty="0">
                <a:latin typeface="Times New Roman" panose="02020603050405020304" pitchFamily="18" charset="0"/>
                <a:cs typeface="Times New Roman" panose="02020603050405020304" pitchFamily="18" charset="0"/>
              </a:rPr>
              <a:t>Generate predictions &amp; evaluate</a:t>
            </a:r>
          </a:p>
          <a:p>
            <a:endParaRPr lang="en-IN" sz="2000" dirty="0"/>
          </a:p>
          <a:p>
            <a:endParaRPr lang="en-IN" sz="2000" dirty="0"/>
          </a:p>
        </p:txBody>
      </p:sp>
    </p:spTree>
    <p:extLst>
      <p:ext uri="{BB962C8B-B14F-4D97-AF65-F5344CB8AC3E}">
        <p14:creationId xmlns:p14="http://schemas.microsoft.com/office/powerpoint/2010/main" val="1754828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51102-A692-1860-C64E-D29760755309}"/>
              </a:ext>
            </a:extLst>
          </p:cNvPr>
          <p:cNvSpPr>
            <a:spLocks noGrp="1"/>
          </p:cNvSpPr>
          <p:nvPr>
            <p:ph type="title"/>
          </p:nvPr>
        </p:nvSpPr>
        <p:spPr>
          <a:xfrm>
            <a:off x="838200" y="681037"/>
            <a:ext cx="10515600" cy="1144588"/>
          </a:xfrm>
        </p:spPr>
        <p:txBody>
          <a:bodyPr>
            <a:normAutofit/>
          </a:bodyPr>
          <a:lstStyle/>
          <a:p>
            <a:r>
              <a:rPr lang="en-IN" sz="3100" dirty="0">
                <a:latin typeface="Times New Roman" panose="02020603050405020304" pitchFamily="18" charset="0"/>
                <a:cs typeface="Times New Roman" panose="02020603050405020304" pitchFamily="18" charset="0"/>
              </a:rPr>
              <a:t>Implementation – </a:t>
            </a:r>
            <a:r>
              <a:rPr lang="en-IN" sz="3100" dirty="0" err="1">
                <a:latin typeface="Times New Roman" panose="02020603050405020304" pitchFamily="18" charset="0"/>
                <a:cs typeface="Times New Roman" panose="02020603050405020304" pitchFamily="18" charset="0"/>
              </a:rPr>
              <a:t>ViT</a:t>
            </a:r>
            <a:r>
              <a:rPr lang="en-IN" sz="3100" dirty="0">
                <a:latin typeface="Times New Roman" panose="02020603050405020304" pitchFamily="18" charset="0"/>
                <a:cs typeface="Times New Roman" panose="02020603050405020304" pitchFamily="18" charset="0"/>
              </a:rPr>
              <a:t> &amp; Fusion Model</a:t>
            </a:r>
            <a:br>
              <a:rPr lang="en-IN" dirty="0"/>
            </a:br>
            <a:endParaRPr lang="en-IN" dirty="0"/>
          </a:p>
        </p:txBody>
      </p:sp>
      <p:sp>
        <p:nvSpPr>
          <p:cNvPr id="3" name="Content Placeholder 2">
            <a:extLst>
              <a:ext uri="{FF2B5EF4-FFF2-40B4-BE49-F238E27FC236}">
                <a16:creationId xmlns:a16="http://schemas.microsoft.com/office/drawing/2014/main" id="{EB5796AB-D90E-3946-4504-E8FBA7D727D2}"/>
              </a:ext>
            </a:extLst>
          </p:cNvPr>
          <p:cNvSpPr>
            <a:spLocks noGrp="1"/>
          </p:cNvSpPr>
          <p:nvPr>
            <p:ph idx="1"/>
          </p:nvPr>
        </p:nvSpPr>
        <p:spPr>
          <a:xfrm>
            <a:off x="838200" y="1434517"/>
            <a:ext cx="10515600" cy="4742446"/>
          </a:xfrm>
        </p:spPr>
        <p:txBody>
          <a:bodyPr>
            <a:normAutofit/>
          </a:bodyPr>
          <a:lstStyle/>
          <a:p>
            <a:endParaRPr lang="en-IN" sz="1500" dirty="0"/>
          </a:p>
          <a:p>
            <a:r>
              <a:rPr lang="en-IN" sz="2000" dirty="0">
                <a:latin typeface="Times New Roman" panose="02020603050405020304" pitchFamily="18" charset="0"/>
                <a:cs typeface="Times New Roman" panose="02020603050405020304" pitchFamily="18" charset="0"/>
              </a:rPr>
              <a:t>Load eye image dataset </a:t>
            </a:r>
          </a:p>
          <a:p>
            <a:r>
              <a:rPr lang="en-IN" sz="2000" dirty="0">
                <a:latin typeface="Times New Roman" panose="02020603050405020304" pitchFamily="18" charset="0"/>
                <a:cs typeface="Times New Roman" panose="02020603050405020304" pitchFamily="18" charset="0"/>
              </a:rPr>
              <a:t>Apply preprocessing (resize, normalization) </a:t>
            </a:r>
          </a:p>
          <a:p>
            <a:r>
              <a:rPr lang="en-IN" sz="2000" dirty="0">
                <a:latin typeface="Times New Roman" panose="02020603050405020304" pitchFamily="18" charset="0"/>
                <a:cs typeface="Times New Roman" panose="02020603050405020304" pitchFamily="18" charset="0"/>
              </a:rPr>
              <a:t>Train pretrained </a:t>
            </a:r>
            <a:r>
              <a:rPr lang="en-IN" sz="2000" dirty="0" err="1">
                <a:latin typeface="Times New Roman" panose="02020603050405020304" pitchFamily="18" charset="0"/>
                <a:cs typeface="Times New Roman" panose="02020603050405020304" pitchFamily="18" charset="0"/>
              </a:rPr>
              <a:t>ViT</a:t>
            </a:r>
            <a:r>
              <a:rPr lang="en-IN" sz="2000" dirty="0">
                <a:latin typeface="Times New Roman" panose="02020603050405020304" pitchFamily="18" charset="0"/>
                <a:cs typeface="Times New Roman" panose="02020603050405020304" pitchFamily="18" charset="0"/>
              </a:rPr>
              <a:t> model (</a:t>
            </a:r>
            <a:r>
              <a:rPr lang="en-IN" sz="2000" dirty="0" err="1">
                <a:latin typeface="Times New Roman" panose="02020603050405020304" pitchFamily="18" charset="0"/>
                <a:cs typeface="Times New Roman" panose="02020603050405020304" pitchFamily="18" charset="0"/>
              </a:rPr>
              <a:t>AdamW</a:t>
            </a:r>
            <a:r>
              <a:rPr lang="en-IN" sz="2000" dirty="0">
                <a:latin typeface="Times New Roman" panose="02020603050405020304" pitchFamily="18" charset="0"/>
                <a:cs typeface="Times New Roman" panose="02020603050405020304" pitchFamily="18" charset="0"/>
              </a:rPr>
              <a:t> optimizer) </a:t>
            </a:r>
          </a:p>
          <a:p>
            <a:r>
              <a:rPr lang="en-IN" sz="2000" dirty="0">
                <a:latin typeface="Times New Roman" panose="02020603050405020304" pitchFamily="18" charset="0"/>
                <a:cs typeface="Times New Roman" panose="02020603050405020304" pitchFamily="18" charset="0"/>
              </a:rPr>
              <a:t>Generate predictions &amp; probabilities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Fusion: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Combine RF + </a:t>
            </a:r>
            <a:r>
              <a:rPr lang="en-IN" sz="2000" dirty="0" err="1">
                <a:latin typeface="Times New Roman" panose="02020603050405020304" pitchFamily="18" charset="0"/>
                <a:cs typeface="Times New Roman" panose="02020603050405020304" pitchFamily="18" charset="0"/>
              </a:rPr>
              <a:t>ViT</a:t>
            </a:r>
            <a:r>
              <a:rPr lang="en-IN" sz="2000" dirty="0">
                <a:latin typeface="Times New Roman" panose="02020603050405020304" pitchFamily="18" charset="0"/>
                <a:cs typeface="Times New Roman" panose="02020603050405020304" pitchFamily="18" charset="0"/>
              </a:rPr>
              <a:t> probabilities </a:t>
            </a:r>
          </a:p>
          <a:p>
            <a:r>
              <a:rPr lang="en-IN" sz="2000" dirty="0">
                <a:latin typeface="Times New Roman" panose="02020603050405020304" pitchFamily="18" charset="0"/>
                <a:cs typeface="Times New Roman" panose="02020603050405020304" pitchFamily="18" charset="0"/>
              </a:rPr>
              <a:t>Apply weighted averaging </a:t>
            </a:r>
          </a:p>
          <a:p>
            <a:r>
              <a:rPr lang="en-IN" sz="2000" dirty="0">
                <a:latin typeface="Times New Roman" panose="02020603050405020304" pitchFamily="18" charset="0"/>
                <a:cs typeface="Times New Roman" panose="02020603050405020304" pitchFamily="18" charset="0"/>
              </a:rPr>
              <a:t>Generate final prediction</a:t>
            </a:r>
          </a:p>
          <a:p>
            <a:endParaRPr lang="en-US" sz="1500" b="1" dirty="0"/>
          </a:p>
          <a:p>
            <a:endParaRPr lang="en-IN" dirty="0"/>
          </a:p>
        </p:txBody>
      </p:sp>
    </p:spTree>
    <p:extLst>
      <p:ext uri="{BB962C8B-B14F-4D97-AF65-F5344CB8AC3E}">
        <p14:creationId xmlns:p14="http://schemas.microsoft.com/office/powerpoint/2010/main" val="1595439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4918241-CE64-E24C-C107-5CE4547BB417}"/>
              </a:ext>
            </a:extLst>
          </p:cNvPr>
          <p:cNvGraphicFramePr>
            <a:graphicFrameLocks noGrp="1"/>
          </p:cNvGraphicFramePr>
          <p:nvPr>
            <p:extLst>
              <p:ext uri="{D42A27DB-BD31-4B8C-83A1-F6EECF244321}">
                <p14:modId xmlns:p14="http://schemas.microsoft.com/office/powerpoint/2010/main" val="682687933"/>
              </p:ext>
            </p:extLst>
          </p:nvPr>
        </p:nvGraphicFramePr>
        <p:xfrm>
          <a:off x="553673" y="352338"/>
          <a:ext cx="11006355" cy="5781913"/>
        </p:xfrm>
        <a:graphic>
          <a:graphicData uri="http://schemas.openxmlformats.org/drawingml/2006/table">
            <a:tbl>
              <a:tblPr firstRow="1" bandRow="1">
                <a:tableStyleId>{5C22544A-7EE6-4342-B048-85BDC9FD1C3A}</a:tableStyleId>
              </a:tblPr>
              <a:tblGrid>
                <a:gridCol w="3668785">
                  <a:extLst>
                    <a:ext uri="{9D8B030D-6E8A-4147-A177-3AD203B41FA5}">
                      <a16:colId xmlns:a16="http://schemas.microsoft.com/office/drawing/2014/main" val="329027292"/>
                    </a:ext>
                  </a:extLst>
                </a:gridCol>
                <a:gridCol w="3668785">
                  <a:extLst>
                    <a:ext uri="{9D8B030D-6E8A-4147-A177-3AD203B41FA5}">
                      <a16:colId xmlns:a16="http://schemas.microsoft.com/office/drawing/2014/main" val="2218413095"/>
                    </a:ext>
                  </a:extLst>
                </a:gridCol>
                <a:gridCol w="3668785">
                  <a:extLst>
                    <a:ext uri="{9D8B030D-6E8A-4147-A177-3AD203B41FA5}">
                      <a16:colId xmlns:a16="http://schemas.microsoft.com/office/drawing/2014/main" val="3777979431"/>
                    </a:ext>
                  </a:extLst>
                </a:gridCol>
              </a:tblGrid>
              <a:tr h="721453">
                <a:tc>
                  <a:txBody>
                    <a:bodyPr/>
                    <a:lstStyle/>
                    <a:p>
                      <a:r>
                        <a:rPr lang="en-IN" sz="1600" dirty="0">
                          <a:latin typeface="Times New Roman" panose="02020603050405020304" pitchFamily="18" charset="0"/>
                          <a:cs typeface="Times New Roman" panose="02020603050405020304" pitchFamily="18" charset="0"/>
                        </a:rPr>
                        <a:t>Parameters</a:t>
                      </a:r>
                    </a:p>
                  </a:txBody>
                  <a:tcPr/>
                </a:tc>
                <a:tc>
                  <a:txBody>
                    <a:bodyPr/>
                    <a:lstStyle/>
                    <a:p>
                      <a:r>
                        <a:rPr lang="fr-FR" sz="1600" dirty="0">
                          <a:latin typeface="Times New Roman" panose="02020603050405020304" pitchFamily="18" charset="0"/>
                          <a:cs typeface="Times New Roman" panose="02020603050405020304" pitchFamily="18" charset="0"/>
                        </a:rPr>
                        <a:t>Base Paper (Masud et al., 2025)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Proposed Model</a:t>
                      </a:r>
                    </a:p>
                  </a:txBody>
                  <a:tcPr/>
                </a:tc>
                <a:extLst>
                  <a:ext uri="{0D108BD9-81ED-4DB2-BD59-A6C34878D82A}">
                    <a16:rowId xmlns:a16="http://schemas.microsoft.com/office/drawing/2014/main" val="3629312449"/>
                  </a:ext>
                </a:extLst>
              </a:tr>
              <a:tr h="578608">
                <a:tc>
                  <a:txBody>
                    <a:bodyPr/>
                    <a:lstStyle/>
                    <a:p>
                      <a:r>
                        <a:rPr lang="en-IN" sz="1600" dirty="0">
                          <a:latin typeface="Times New Roman" panose="02020603050405020304" pitchFamily="18" charset="0"/>
                          <a:cs typeface="Times New Roman" panose="02020603050405020304" pitchFamily="18" charset="0"/>
                        </a:rPr>
                        <a:t>Dataset</a:t>
                      </a:r>
                    </a:p>
                  </a:txBody>
                  <a:tcPr/>
                </a:tc>
                <a:tc>
                  <a:txBody>
                    <a:bodyPr/>
                    <a:lstStyle/>
                    <a:p>
                      <a:r>
                        <a:rPr lang="en-IN" sz="1600" dirty="0">
                          <a:latin typeface="Times New Roman" panose="02020603050405020304" pitchFamily="18" charset="0"/>
                          <a:cs typeface="Times New Roman" panose="02020603050405020304" pitchFamily="18" charset="0"/>
                        </a:rPr>
                        <a:t>Student survey dataset </a:t>
                      </a:r>
                    </a:p>
                  </a:txBody>
                  <a:tcPr/>
                </a:tc>
                <a:tc>
                  <a:txBody>
                    <a:bodyPr/>
                    <a:lstStyle/>
                    <a:p>
                      <a:r>
                        <a:rPr lang="en-IN" sz="1600" dirty="0">
                          <a:latin typeface="Times New Roman" panose="02020603050405020304" pitchFamily="18" charset="0"/>
                          <a:cs typeface="Times New Roman" panose="02020603050405020304" pitchFamily="18" charset="0"/>
                        </a:rPr>
                        <a:t>PHQ-9 dataset + Eye image data</a:t>
                      </a:r>
                    </a:p>
                  </a:txBody>
                  <a:tcPr/>
                </a:tc>
                <a:extLst>
                  <a:ext uri="{0D108BD9-81ED-4DB2-BD59-A6C34878D82A}">
                    <a16:rowId xmlns:a16="http://schemas.microsoft.com/office/drawing/2014/main" val="2364320338"/>
                  </a:ext>
                </a:extLst>
              </a:tr>
              <a:tr h="478603">
                <a:tc>
                  <a:txBody>
                    <a:bodyPr/>
                    <a:lstStyle/>
                    <a:p>
                      <a:r>
                        <a:rPr lang="en-IN" sz="1600" dirty="0">
                          <a:latin typeface="Times New Roman" panose="02020603050405020304" pitchFamily="18" charset="0"/>
                          <a:cs typeface="Times New Roman" panose="02020603050405020304" pitchFamily="18" charset="0"/>
                        </a:rPr>
                        <a:t>Data Nature</a:t>
                      </a:r>
                    </a:p>
                  </a:txBody>
                  <a:tcPr/>
                </a:tc>
                <a:tc>
                  <a:txBody>
                    <a:bodyPr/>
                    <a:lstStyle/>
                    <a:p>
                      <a:r>
                        <a:rPr lang="en-IN" sz="1600" dirty="0">
                          <a:latin typeface="Times New Roman" panose="02020603050405020304" pitchFamily="18" charset="0"/>
                          <a:cs typeface="Times New Roman" panose="02020603050405020304" pitchFamily="18" charset="0"/>
                        </a:rPr>
                        <a:t>Subjective (self-reported)</a:t>
                      </a:r>
                    </a:p>
                  </a:txBody>
                  <a:tcPr/>
                </a:tc>
                <a:tc>
                  <a:txBody>
                    <a:bodyPr/>
                    <a:lstStyle/>
                    <a:p>
                      <a:r>
                        <a:rPr lang="en-IN" sz="1600" dirty="0">
                          <a:latin typeface="Times New Roman" panose="02020603050405020304" pitchFamily="18" charset="0"/>
                          <a:cs typeface="Times New Roman" panose="02020603050405020304" pitchFamily="18" charset="0"/>
                        </a:rPr>
                        <a:t>Hybrid (subjective ,objective)</a:t>
                      </a:r>
                    </a:p>
                  </a:txBody>
                  <a:tcPr/>
                </a:tc>
                <a:extLst>
                  <a:ext uri="{0D108BD9-81ED-4DB2-BD59-A6C34878D82A}">
                    <a16:rowId xmlns:a16="http://schemas.microsoft.com/office/drawing/2014/main" val="3120233046"/>
                  </a:ext>
                </a:extLst>
              </a:tr>
              <a:tr h="528605">
                <a:tc>
                  <a:txBody>
                    <a:bodyPr/>
                    <a:lstStyle/>
                    <a:p>
                      <a:r>
                        <a:rPr lang="en-IN" sz="1600" dirty="0">
                          <a:latin typeface="Times New Roman" panose="02020603050405020304" pitchFamily="18" charset="0"/>
                          <a:cs typeface="Times New Roman" panose="02020603050405020304" pitchFamily="18" charset="0"/>
                        </a:rPr>
                        <a:t>Features Used</a:t>
                      </a:r>
                    </a:p>
                  </a:txBody>
                  <a:tcPr/>
                </a:tc>
                <a:tc>
                  <a:txBody>
                    <a:bodyPr/>
                    <a:lstStyle/>
                    <a:p>
                      <a:r>
                        <a:rPr lang="en-IN" sz="1600" dirty="0">
                          <a:latin typeface="Times New Roman" panose="02020603050405020304" pitchFamily="18" charset="0"/>
                          <a:cs typeface="Times New Roman" panose="02020603050405020304" pitchFamily="18" charset="0"/>
                        </a:rPr>
                        <a:t>Demographic ,textual features</a:t>
                      </a:r>
                    </a:p>
                  </a:txBody>
                  <a:tcPr/>
                </a:tc>
                <a:tc>
                  <a:txBody>
                    <a:bodyPr/>
                    <a:lstStyle/>
                    <a:p>
                      <a:r>
                        <a:rPr lang="en-IN" sz="1600" dirty="0">
                          <a:latin typeface="Times New Roman" panose="02020603050405020304" pitchFamily="18" charset="0"/>
                          <a:cs typeface="Times New Roman" panose="02020603050405020304" pitchFamily="18" charset="0"/>
                        </a:rPr>
                        <a:t>PHQ-9 responses ,eye features</a:t>
                      </a:r>
                    </a:p>
                  </a:txBody>
                  <a:tcPr/>
                </a:tc>
                <a:extLst>
                  <a:ext uri="{0D108BD9-81ED-4DB2-BD59-A6C34878D82A}">
                    <a16:rowId xmlns:a16="http://schemas.microsoft.com/office/drawing/2014/main" val="2726308590"/>
                  </a:ext>
                </a:extLst>
              </a:tr>
              <a:tr h="911840">
                <a:tc>
                  <a:txBody>
                    <a:bodyPr/>
                    <a:lstStyle/>
                    <a:p>
                      <a:r>
                        <a:rPr lang="en-IN" sz="1600" dirty="0">
                          <a:latin typeface="Times New Roman" panose="02020603050405020304" pitchFamily="18" charset="0"/>
                          <a:cs typeface="Times New Roman" panose="02020603050405020304" pitchFamily="18" charset="0"/>
                        </a:rPr>
                        <a:t>Models Used</a:t>
                      </a:r>
                    </a:p>
                  </a:txBody>
                  <a:tcPr/>
                </a:tc>
                <a:tc>
                  <a:txBody>
                    <a:bodyPr/>
                    <a:lstStyle/>
                    <a:p>
                      <a:r>
                        <a:rPr lang="en-US" sz="1600" dirty="0">
                          <a:latin typeface="Times New Roman" panose="02020603050405020304" pitchFamily="18" charset="0"/>
                          <a:cs typeface="Times New Roman" panose="02020603050405020304" pitchFamily="18" charset="0"/>
                        </a:rPr>
                        <a:t>Random Forest, BERT, CNN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Random Forest + Vision Transformer (ViT)</a:t>
                      </a:r>
                    </a:p>
                  </a:txBody>
                  <a:tcPr/>
                </a:tc>
                <a:extLst>
                  <a:ext uri="{0D108BD9-81ED-4DB2-BD59-A6C34878D82A}">
                    <a16:rowId xmlns:a16="http://schemas.microsoft.com/office/drawing/2014/main" val="2466047851"/>
                  </a:ext>
                </a:extLst>
              </a:tr>
              <a:tr h="854268">
                <a:tc>
                  <a:txBody>
                    <a:bodyPr/>
                    <a:lstStyle/>
                    <a:p>
                      <a:r>
                        <a:rPr lang="en-IN" sz="1600" dirty="0">
                          <a:latin typeface="Times New Roman" panose="02020603050405020304" pitchFamily="18" charset="0"/>
                          <a:cs typeface="Times New Roman" panose="02020603050405020304" pitchFamily="18" charset="0"/>
                        </a:rPr>
                        <a:t>Explainability</a:t>
                      </a:r>
                    </a:p>
                  </a:txBody>
                  <a:tcPr/>
                </a:tc>
                <a:tc>
                  <a:txBody>
                    <a:bodyPr/>
                    <a:lstStyle/>
                    <a:p>
                      <a:r>
                        <a:rPr lang="en-IN" sz="1600" dirty="0">
                          <a:latin typeface="Times New Roman" panose="02020603050405020304" pitchFamily="18" charset="0"/>
                          <a:cs typeface="Times New Roman" panose="02020603050405020304" pitchFamily="18" charset="0"/>
                        </a:rPr>
                        <a:t>SHAP, LIME</a:t>
                      </a:r>
                    </a:p>
                  </a:txBody>
                  <a:tcPr/>
                </a:tc>
                <a:tc>
                  <a:txBody>
                    <a:bodyPr/>
                    <a:lstStyle/>
                    <a:p>
                      <a:r>
                        <a:rPr lang="en-IN" sz="1600" dirty="0">
                          <a:latin typeface="Times New Roman" panose="02020603050405020304" pitchFamily="18" charset="0"/>
                          <a:cs typeface="Times New Roman" panose="02020603050405020304" pitchFamily="18" charset="0"/>
                        </a:rPr>
                        <a:t>SHAP ,Attention Maps</a:t>
                      </a:r>
                    </a:p>
                  </a:txBody>
                  <a:tcPr/>
                </a:tc>
                <a:extLst>
                  <a:ext uri="{0D108BD9-81ED-4DB2-BD59-A6C34878D82A}">
                    <a16:rowId xmlns:a16="http://schemas.microsoft.com/office/drawing/2014/main" val="3690600821"/>
                  </a:ext>
                </a:extLst>
              </a:tr>
              <a:tr h="854268">
                <a:tc>
                  <a:txBody>
                    <a:bodyPr/>
                    <a:lstStyle/>
                    <a:p>
                      <a:r>
                        <a:rPr lang="en-IN" sz="1600" dirty="0">
                          <a:latin typeface="Times New Roman" panose="02020603050405020304" pitchFamily="18" charset="0"/>
                          <a:cs typeface="Times New Roman" panose="02020603050405020304" pitchFamily="18" charset="0"/>
                        </a:rPr>
                        <a:t>Fusion Technique</a:t>
                      </a:r>
                    </a:p>
                  </a:txBody>
                  <a:tcPr/>
                </a:tc>
                <a:tc>
                  <a:txBody>
                    <a:bodyPr/>
                    <a:lstStyle/>
                    <a:p>
                      <a:r>
                        <a:rPr lang="en-IN" sz="1600" dirty="0">
                          <a:latin typeface="Times New Roman" panose="02020603050405020304" pitchFamily="18" charset="0"/>
                          <a:cs typeface="Times New Roman" panose="02020603050405020304" pitchFamily="18" charset="0"/>
                        </a:rPr>
                        <a:t>No fusion</a:t>
                      </a:r>
                    </a:p>
                  </a:txBody>
                  <a:tcPr/>
                </a:tc>
                <a:tc>
                  <a:txBody>
                    <a:bodyPr/>
                    <a:lstStyle/>
                    <a:p>
                      <a:r>
                        <a:rPr lang="en-IN" sz="1600" dirty="0">
                          <a:latin typeface="Times New Roman" panose="02020603050405020304" pitchFamily="18" charset="0"/>
                          <a:cs typeface="Times New Roman" panose="02020603050405020304" pitchFamily="18" charset="0"/>
                        </a:rPr>
                        <a:t>Weighted Fusion</a:t>
                      </a:r>
                    </a:p>
                  </a:txBody>
                  <a:tcPr/>
                </a:tc>
                <a:extLst>
                  <a:ext uri="{0D108BD9-81ED-4DB2-BD59-A6C34878D82A}">
                    <a16:rowId xmlns:a16="http://schemas.microsoft.com/office/drawing/2014/main" val="3452535894"/>
                  </a:ext>
                </a:extLst>
              </a:tr>
              <a:tr h="854268">
                <a:tc>
                  <a:txBody>
                    <a:bodyPr/>
                    <a:lstStyle/>
                    <a:p>
                      <a:r>
                        <a:rPr lang="en-IN" sz="1600" dirty="0">
                          <a:latin typeface="Times New Roman" panose="02020603050405020304" pitchFamily="18" charset="0"/>
                          <a:cs typeface="Times New Roman" panose="02020603050405020304" pitchFamily="18" charset="0"/>
                        </a:rPr>
                        <a:t>Evaluation Metrics</a:t>
                      </a:r>
                    </a:p>
                  </a:txBody>
                  <a:tcPr/>
                </a:tc>
                <a:tc>
                  <a:txBody>
                    <a:bodyPr/>
                    <a:lstStyle/>
                    <a:p>
                      <a:r>
                        <a:rPr lang="en-IN" sz="1600" dirty="0">
                          <a:latin typeface="Times New Roman" panose="02020603050405020304" pitchFamily="18" charset="0"/>
                          <a:cs typeface="Times New Roman" panose="02020603050405020304" pitchFamily="18" charset="0"/>
                        </a:rPr>
                        <a:t>Accuracy, F1-score, Recall</a:t>
                      </a:r>
                    </a:p>
                  </a:txBody>
                  <a:tcPr/>
                </a:tc>
                <a:tc>
                  <a:txBody>
                    <a:bodyPr/>
                    <a:lstStyle/>
                    <a:p>
                      <a:r>
                        <a:rPr lang="en-IN" sz="1600" dirty="0">
                          <a:latin typeface="Times New Roman" panose="02020603050405020304" pitchFamily="18" charset="0"/>
                          <a:cs typeface="Times New Roman" panose="02020603050405020304" pitchFamily="18" charset="0"/>
                        </a:rPr>
                        <a:t>Accuracy, Precision, Recall, F1-score</a:t>
                      </a:r>
                    </a:p>
                  </a:txBody>
                  <a:tcPr/>
                </a:tc>
                <a:extLst>
                  <a:ext uri="{0D108BD9-81ED-4DB2-BD59-A6C34878D82A}">
                    <a16:rowId xmlns:a16="http://schemas.microsoft.com/office/drawing/2014/main" val="3723961876"/>
                  </a:ext>
                </a:extLst>
              </a:tr>
            </a:tbl>
          </a:graphicData>
        </a:graphic>
      </p:graphicFrame>
    </p:spTree>
    <p:extLst>
      <p:ext uri="{BB962C8B-B14F-4D97-AF65-F5344CB8AC3E}">
        <p14:creationId xmlns:p14="http://schemas.microsoft.com/office/powerpoint/2010/main" val="454586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39D93-8007-5203-2BA8-A05B879C93E2}"/>
              </a:ext>
            </a:extLst>
          </p:cNvPr>
          <p:cNvSpPr>
            <a:spLocks noGrp="1"/>
          </p:cNvSpPr>
          <p:nvPr>
            <p:ph type="title"/>
          </p:nvPr>
        </p:nvSpPr>
        <p:spPr>
          <a:xfrm>
            <a:off x="839788" y="457200"/>
            <a:ext cx="3992271" cy="700481"/>
          </a:xfrm>
        </p:spPr>
        <p:txBody>
          <a:bodyPr/>
          <a:lstStyle/>
          <a:p>
            <a:r>
              <a:rPr lang="en-IN" dirty="0">
                <a:latin typeface="Times New Roman" panose="02020603050405020304" pitchFamily="18" charset="0"/>
                <a:cs typeface="Times New Roman" panose="02020603050405020304" pitchFamily="18" charset="0"/>
              </a:rPr>
              <a:t>Result Obtained</a:t>
            </a:r>
          </a:p>
        </p:txBody>
      </p:sp>
      <p:pic>
        <p:nvPicPr>
          <p:cNvPr id="1026" name="Picture 2">
            <a:extLst>
              <a:ext uri="{FF2B5EF4-FFF2-40B4-BE49-F238E27FC236}">
                <a16:creationId xmlns:a16="http://schemas.microsoft.com/office/drawing/2014/main" id="{4E655BA4-EDAA-A3C4-4DA5-E3C5BF89FA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888" y="1585519"/>
            <a:ext cx="6266577" cy="46520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0C0C1F6-2205-C781-802A-1C4CDCD6F803}"/>
              </a:ext>
            </a:extLst>
          </p:cNvPr>
          <p:cNvPicPr>
            <a:picLocks noChangeAspect="1"/>
          </p:cNvPicPr>
          <p:nvPr/>
        </p:nvPicPr>
        <p:blipFill>
          <a:blip r:embed="rId3"/>
          <a:stretch>
            <a:fillRect/>
          </a:stretch>
        </p:blipFill>
        <p:spPr>
          <a:xfrm>
            <a:off x="7714958" y="257961"/>
            <a:ext cx="3749486" cy="3171039"/>
          </a:xfrm>
          <a:prstGeom prst="rect">
            <a:avLst/>
          </a:prstGeom>
        </p:spPr>
      </p:pic>
      <p:pic>
        <p:nvPicPr>
          <p:cNvPr id="4" name="Picture 2">
            <a:extLst>
              <a:ext uri="{FF2B5EF4-FFF2-40B4-BE49-F238E27FC236}">
                <a16:creationId xmlns:a16="http://schemas.microsoft.com/office/drawing/2014/main" id="{827C6ED9-010C-275D-BB42-E265B5121B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4958" y="3429000"/>
            <a:ext cx="3749486" cy="3097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982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F125490-1836-AAF3-B164-9DF8B929CF02}"/>
              </a:ext>
            </a:extLst>
          </p:cNvPr>
          <p:cNvPicPr>
            <a:picLocks noChangeAspect="1"/>
          </p:cNvPicPr>
          <p:nvPr/>
        </p:nvPicPr>
        <p:blipFill>
          <a:blip r:embed="rId2"/>
          <a:stretch>
            <a:fillRect/>
          </a:stretch>
        </p:blipFill>
        <p:spPr>
          <a:xfrm>
            <a:off x="283786" y="646738"/>
            <a:ext cx="1952482" cy="2062905"/>
          </a:xfrm>
          <a:prstGeom prst="rect">
            <a:avLst/>
          </a:prstGeom>
        </p:spPr>
      </p:pic>
      <p:pic>
        <p:nvPicPr>
          <p:cNvPr id="9" name="Picture 8">
            <a:extLst>
              <a:ext uri="{FF2B5EF4-FFF2-40B4-BE49-F238E27FC236}">
                <a16:creationId xmlns:a16="http://schemas.microsoft.com/office/drawing/2014/main" id="{C8656618-0D80-9101-C1D2-1B2CC5EF6792}"/>
              </a:ext>
            </a:extLst>
          </p:cNvPr>
          <p:cNvPicPr>
            <a:picLocks noChangeAspect="1"/>
          </p:cNvPicPr>
          <p:nvPr/>
        </p:nvPicPr>
        <p:blipFill>
          <a:blip r:embed="rId3"/>
          <a:stretch>
            <a:fillRect/>
          </a:stretch>
        </p:blipFill>
        <p:spPr>
          <a:xfrm>
            <a:off x="3533778" y="568893"/>
            <a:ext cx="2550106" cy="2218593"/>
          </a:xfrm>
          <a:prstGeom prst="rect">
            <a:avLst/>
          </a:prstGeom>
        </p:spPr>
      </p:pic>
      <p:cxnSp>
        <p:nvCxnSpPr>
          <p:cNvPr id="11" name="Straight Arrow Connector 10">
            <a:extLst>
              <a:ext uri="{FF2B5EF4-FFF2-40B4-BE49-F238E27FC236}">
                <a16:creationId xmlns:a16="http://schemas.microsoft.com/office/drawing/2014/main" id="{0E137EA2-0B07-3822-D94D-77233948BCB2}"/>
              </a:ext>
            </a:extLst>
          </p:cNvPr>
          <p:cNvCxnSpPr>
            <a:stCxn id="7" idx="3"/>
            <a:endCxn id="9" idx="1"/>
          </p:cNvCxnSpPr>
          <p:nvPr/>
        </p:nvCxnSpPr>
        <p:spPr>
          <a:xfrm flipV="1">
            <a:off x="2236268" y="1678190"/>
            <a:ext cx="129751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DCC623D-5278-18E3-1524-98E187B7CF84}"/>
              </a:ext>
            </a:extLst>
          </p:cNvPr>
          <p:cNvPicPr>
            <a:picLocks noChangeAspect="1"/>
          </p:cNvPicPr>
          <p:nvPr/>
        </p:nvPicPr>
        <p:blipFill>
          <a:blip r:embed="rId4"/>
          <a:stretch>
            <a:fillRect/>
          </a:stretch>
        </p:blipFill>
        <p:spPr>
          <a:xfrm>
            <a:off x="7246665" y="319496"/>
            <a:ext cx="3967993" cy="3521880"/>
          </a:xfrm>
          <a:prstGeom prst="rect">
            <a:avLst/>
          </a:prstGeom>
        </p:spPr>
      </p:pic>
      <p:pic>
        <p:nvPicPr>
          <p:cNvPr id="10" name="Picture 9">
            <a:extLst>
              <a:ext uri="{FF2B5EF4-FFF2-40B4-BE49-F238E27FC236}">
                <a16:creationId xmlns:a16="http://schemas.microsoft.com/office/drawing/2014/main" id="{E42FBE85-D749-D4F2-26D2-E5569F5A3BFD}"/>
              </a:ext>
            </a:extLst>
          </p:cNvPr>
          <p:cNvPicPr>
            <a:picLocks noChangeAspect="1"/>
          </p:cNvPicPr>
          <p:nvPr/>
        </p:nvPicPr>
        <p:blipFill>
          <a:blip r:embed="rId5"/>
          <a:stretch>
            <a:fillRect/>
          </a:stretch>
        </p:blipFill>
        <p:spPr>
          <a:xfrm>
            <a:off x="7182606" y="4219662"/>
            <a:ext cx="4096109" cy="1871682"/>
          </a:xfrm>
          <a:prstGeom prst="rect">
            <a:avLst/>
          </a:prstGeom>
        </p:spPr>
      </p:pic>
      <p:pic>
        <p:nvPicPr>
          <p:cNvPr id="13" name="Picture 12">
            <a:extLst>
              <a:ext uri="{FF2B5EF4-FFF2-40B4-BE49-F238E27FC236}">
                <a16:creationId xmlns:a16="http://schemas.microsoft.com/office/drawing/2014/main" id="{CCF99B94-5C2E-390F-7917-57992E6F538A}"/>
              </a:ext>
            </a:extLst>
          </p:cNvPr>
          <p:cNvPicPr>
            <a:picLocks noChangeAspect="1"/>
          </p:cNvPicPr>
          <p:nvPr/>
        </p:nvPicPr>
        <p:blipFill>
          <a:blip r:embed="rId6"/>
          <a:stretch>
            <a:fillRect/>
          </a:stretch>
        </p:blipFill>
        <p:spPr>
          <a:xfrm>
            <a:off x="997805" y="3120341"/>
            <a:ext cx="5098195" cy="3521880"/>
          </a:xfrm>
          <a:prstGeom prst="rect">
            <a:avLst/>
          </a:prstGeom>
        </p:spPr>
      </p:pic>
    </p:spTree>
    <p:extLst>
      <p:ext uri="{BB962C8B-B14F-4D97-AF65-F5344CB8AC3E}">
        <p14:creationId xmlns:p14="http://schemas.microsoft.com/office/powerpoint/2010/main" val="3869398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34B4C57-819B-CEB1-7999-E8DB98246179}"/>
              </a:ext>
            </a:extLst>
          </p:cNvPr>
          <p:cNvGraphicFramePr>
            <a:graphicFrameLocks noGrp="1"/>
          </p:cNvGraphicFramePr>
          <p:nvPr>
            <p:extLst>
              <p:ext uri="{D42A27DB-BD31-4B8C-83A1-F6EECF244321}">
                <p14:modId xmlns:p14="http://schemas.microsoft.com/office/powerpoint/2010/main" val="1248909740"/>
              </p:ext>
            </p:extLst>
          </p:nvPr>
        </p:nvGraphicFramePr>
        <p:xfrm>
          <a:off x="872456" y="1618189"/>
          <a:ext cx="5251508" cy="3571254"/>
        </p:xfrm>
        <a:graphic>
          <a:graphicData uri="http://schemas.openxmlformats.org/drawingml/2006/table">
            <a:tbl>
              <a:tblPr firstRow="1" bandRow="1">
                <a:tableStyleId>{5C22544A-7EE6-4342-B048-85BDC9FD1C3A}</a:tableStyleId>
              </a:tblPr>
              <a:tblGrid>
                <a:gridCol w="2939397">
                  <a:extLst>
                    <a:ext uri="{9D8B030D-6E8A-4147-A177-3AD203B41FA5}">
                      <a16:colId xmlns:a16="http://schemas.microsoft.com/office/drawing/2014/main" val="2555588522"/>
                    </a:ext>
                  </a:extLst>
                </a:gridCol>
                <a:gridCol w="2312111">
                  <a:extLst>
                    <a:ext uri="{9D8B030D-6E8A-4147-A177-3AD203B41FA5}">
                      <a16:colId xmlns:a16="http://schemas.microsoft.com/office/drawing/2014/main" val="1306909509"/>
                    </a:ext>
                  </a:extLst>
                </a:gridCol>
              </a:tblGrid>
              <a:tr h="488529">
                <a:tc>
                  <a:txBody>
                    <a:bodyPr/>
                    <a:lstStyle/>
                    <a:p>
                      <a:r>
                        <a:rPr lang="en-IN" dirty="0"/>
                        <a:t>Model</a:t>
                      </a:r>
                    </a:p>
                  </a:txBody>
                  <a:tcPr/>
                </a:tc>
                <a:tc>
                  <a:txBody>
                    <a:bodyPr/>
                    <a:lstStyle/>
                    <a:p>
                      <a:r>
                        <a:rPr lang="en-IN" dirty="0"/>
                        <a:t>Accuracy</a:t>
                      </a:r>
                    </a:p>
                  </a:txBody>
                  <a:tcPr/>
                </a:tc>
                <a:extLst>
                  <a:ext uri="{0D108BD9-81ED-4DB2-BD59-A6C34878D82A}">
                    <a16:rowId xmlns:a16="http://schemas.microsoft.com/office/drawing/2014/main" val="2310865696"/>
                  </a:ext>
                </a:extLst>
              </a:tr>
              <a:tr h="488529">
                <a:tc>
                  <a:txBody>
                    <a:bodyPr/>
                    <a:lstStyle/>
                    <a:p>
                      <a:r>
                        <a:rPr lang="en-IN" dirty="0"/>
                        <a:t>Random Forest</a:t>
                      </a:r>
                    </a:p>
                  </a:txBody>
                  <a:tcPr/>
                </a:tc>
                <a:tc>
                  <a:txBody>
                    <a:bodyPr/>
                    <a:lstStyle/>
                    <a:p>
                      <a:r>
                        <a:rPr lang="en-IN" dirty="0"/>
                        <a:t>0.93</a:t>
                      </a:r>
                    </a:p>
                  </a:txBody>
                  <a:tcPr/>
                </a:tc>
                <a:extLst>
                  <a:ext uri="{0D108BD9-81ED-4DB2-BD59-A6C34878D82A}">
                    <a16:rowId xmlns:a16="http://schemas.microsoft.com/office/drawing/2014/main" val="2999499526"/>
                  </a:ext>
                </a:extLst>
              </a:tr>
              <a:tr h="488529">
                <a:tc>
                  <a:txBody>
                    <a:bodyPr/>
                    <a:lstStyle/>
                    <a:p>
                      <a:r>
                        <a:rPr lang="en-IN" dirty="0"/>
                        <a:t>ViT</a:t>
                      </a:r>
                    </a:p>
                  </a:txBody>
                  <a:tcPr/>
                </a:tc>
                <a:tc>
                  <a:txBody>
                    <a:bodyPr/>
                    <a:lstStyle/>
                    <a:p>
                      <a:r>
                        <a:rPr lang="en-IN" dirty="0"/>
                        <a:t>0.87</a:t>
                      </a:r>
                    </a:p>
                  </a:txBody>
                  <a:tcPr/>
                </a:tc>
                <a:extLst>
                  <a:ext uri="{0D108BD9-81ED-4DB2-BD59-A6C34878D82A}">
                    <a16:rowId xmlns:a16="http://schemas.microsoft.com/office/drawing/2014/main" val="3632466619"/>
                  </a:ext>
                </a:extLst>
              </a:tr>
              <a:tr h="488529">
                <a:tc>
                  <a:txBody>
                    <a:bodyPr/>
                    <a:lstStyle/>
                    <a:p>
                      <a:r>
                        <a:rPr lang="en-IN" dirty="0"/>
                        <a:t>Fusion</a:t>
                      </a:r>
                    </a:p>
                  </a:txBody>
                  <a:tcPr/>
                </a:tc>
                <a:tc>
                  <a:txBody>
                    <a:bodyPr/>
                    <a:lstStyle/>
                    <a:p>
                      <a:r>
                        <a:rPr lang="en-IN" dirty="0"/>
                        <a:t>0.92</a:t>
                      </a:r>
                    </a:p>
                  </a:txBody>
                  <a:tcPr/>
                </a:tc>
                <a:extLst>
                  <a:ext uri="{0D108BD9-81ED-4DB2-BD59-A6C34878D82A}">
                    <a16:rowId xmlns:a16="http://schemas.microsoft.com/office/drawing/2014/main" val="3154339095"/>
                  </a:ext>
                </a:extLst>
              </a:tr>
              <a:tr h="584700">
                <a:tc>
                  <a:txBody>
                    <a:bodyPr/>
                    <a:lstStyle/>
                    <a:p>
                      <a:r>
                        <a:rPr lang="en-IN" dirty="0"/>
                        <a:t>Random Forest(</a:t>
                      </a:r>
                      <a:r>
                        <a:rPr lang="fr-FR" sz="1800" dirty="0">
                          <a:latin typeface="Times New Roman" panose="02020603050405020304" pitchFamily="18" charset="0"/>
                          <a:cs typeface="Times New Roman" panose="02020603050405020304" pitchFamily="18" charset="0"/>
                        </a:rPr>
                        <a:t>Masud et al., 2025</a:t>
                      </a:r>
                      <a:endParaRPr lang="en-IN" dirty="0"/>
                    </a:p>
                  </a:txBody>
                  <a:tcPr/>
                </a:tc>
                <a:tc>
                  <a:txBody>
                    <a:bodyPr/>
                    <a:lstStyle/>
                    <a:p>
                      <a:r>
                        <a:rPr lang="en-IN" dirty="0"/>
                        <a:t>0.91</a:t>
                      </a:r>
                    </a:p>
                  </a:txBody>
                  <a:tcPr/>
                </a:tc>
                <a:extLst>
                  <a:ext uri="{0D108BD9-81ED-4DB2-BD59-A6C34878D82A}">
                    <a16:rowId xmlns:a16="http://schemas.microsoft.com/office/drawing/2014/main" val="2263257385"/>
                  </a:ext>
                </a:extLst>
              </a:tr>
              <a:tr h="488529">
                <a:tc>
                  <a:txBody>
                    <a:bodyPr/>
                    <a:lstStyle/>
                    <a:p>
                      <a:r>
                        <a:rPr lang="en-IN" dirty="0"/>
                        <a:t>BERT(</a:t>
                      </a:r>
                      <a:r>
                        <a:rPr lang="fr-FR" sz="1800" dirty="0">
                          <a:latin typeface="Times New Roman" panose="02020603050405020304" pitchFamily="18" charset="0"/>
                          <a:cs typeface="Times New Roman" panose="02020603050405020304" pitchFamily="18" charset="0"/>
                        </a:rPr>
                        <a:t>Masud et al., 2025)</a:t>
                      </a:r>
                      <a:endParaRPr lang="en-IN" dirty="0"/>
                    </a:p>
                  </a:txBody>
                  <a:tcPr/>
                </a:tc>
                <a:tc>
                  <a:txBody>
                    <a:bodyPr/>
                    <a:lstStyle/>
                    <a:p>
                      <a:r>
                        <a:rPr lang="en-IN" dirty="0"/>
                        <a:t>0.85</a:t>
                      </a:r>
                    </a:p>
                  </a:txBody>
                  <a:tcPr/>
                </a:tc>
                <a:extLst>
                  <a:ext uri="{0D108BD9-81ED-4DB2-BD59-A6C34878D82A}">
                    <a16:rowId xmlns:a16="http://schemas.microsoft.com/office/drawing/2014/main" val="888444538"/>
                  </a:ext>
                </a:extLst>
              </a:tr>
              <a:tr h="488529">
                <a:tc>
                  <a:txBody>
                    <a:bodyPr/>
                    <a:lstStyle/>
                    <a:p>
                      <a:r>
                        <a:rPr lang="en-IN" dirty="0"/>
                        <a:t>CNN(</a:t>
                      </a:r>
                      <a:r>
                        <a:rPr lang="fr-FR" sz="1800" dirty="0">
                          <a:latin typeface="Times New Roman" panose="02020603050405020304" pitchFamily="18" charset="0"/>
                          <a:cs typeface="Times New Roman" panose="02020603050405020304" pitchFamily="18" charset="0"/>
                        </a:rPr>
                        <a:t>Masud et al., 2025)</a:t>
                      </a:r>
                      <a:endParaRPr lang="en-IN" dirty="0"/>
                    </a:p>
                  </a:txBody>
                  <a:tcPr/>
                </a:tc>
                <a:tc>
                  <a:txBody>
                    <a:bodyPr/>
                    <a:lstStyle/>
                    <a:p>
                      <a:r>
                        <a:rPr lang="en-IN" dirty="0"/>
                        <a:t>0.83</a:t>
                      </a:r>
                    </a:p>
                  </a:txBody>
                  <a:tcPr/>
                </a:tc>
                <a:extLst>
                  <a:ext uri="{0D108BD9-81ED-4DB2-BD59-A6C34878D82A}">
                    <a16:rowId xmlns:a16="http://schemas.microsoft.com/office/drawing/2014/main" val="3805078843"/>
                  </a:ext>
                </a:extLst>
              </a:tr>
            </a:tbl>
          </a:graphicData>
        </a:graphic>
      </p:graphicFrame>
      <p:pic>
        <p:nvPicPr>
          <p:cNvPr id="6" name="Picture 5">
            <a:extLst>
              <a:ext uri="{FF2B5EF4-FFF2-40B4-BE49-F238E27FC236}">
                <a16:creationId xmlns:a16="http://schemas.microsoft.com/office/drawing/2014/main" id="{DA5F5AFF-66DD-2CD6-9479-2815F05B5BDF}"/>
              </a:ext>
            </a:extLst>
          </p:cNvPr>
          <p:cNvPicPr>
            <a:picLocks noChangeAspect="1"/>
          </p:cNvPicPr>
          <p:nvPr/>
        </p:nvPicPr>
        <p:blipFill>
          <a:blip r:embed="rId2"/>
          <a:stretch>
            <a:fillRect/>
          </a:stretch>
        </p:blipFill>
        <p:spPr>
          <a:xfrm>
            <a:off x="6853806" y="385894"/>
            <a:ext cx="4731390" cy="2827089"/>
          </a:xfrm>
          <a:prstGeom prst="rect">
            <a:avLst/>
          </a:prstGeom>
        </p:spPr>
      </p:pic>
      <p:pic>
        <p:nvPicPr>
          <p:cNvPr id="8" name="Picture 7">
            <a:extLst>
              <a:ext uri="{FF2B5EF4-FFF2-40B4-BE49-F238E27FC236}">
                <a16:creationId xmlns:a16="http://schemas.microsoft.com/office/drawing/2014/main" id="{9E01B8B6-7177-600F-E105-DF78A8C7FEDF}"/>
              </a:ext>
            </a:extLst>
          </p:cNvPr>
          <p:cNvPicPr>
            <a:picLocks noChangeAspect="1"/>
          </p:cNvPicPr>
          <p:nvPr/>
        </p:nvPicPr>
        <p:blipFill>
          <a:blip r:embed="rId3"/>
          <a:stretch>
            <a:fillRect/>
          </a:stretch>
        </p:blipFill>
        <p:spPr>
          <a:xfrm>
            <a:off x="6552051" y="3538519"/>
            <a:ext cx="5334900" cy="3021671"/>
          </a:xfrm>
          <a:prstGeom prst="rect">
            <a:avLst/>
          </a:prstGeom>
        </p:spPr>
      </p:pic>
    </p:spTree>
    <p:extLst>
      <p:ext uri="{BB962C8B-B14F-4D97-AF65-F5344CB8AC3E}">
        <p14:creationId xmlns:p14="http://schemas.microsoft.com/office/powerpoint/2010/main" val="2666400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DDF9F-F3BC-65A4-3205-43164C613D13}"/>
              </a:ext>
            </a:extLst>
          </p:cNvPr>
          <p:cNvSpPr>
            <a:spLocks noGrp="1"/>
          </p:cNvSpPr>
          <p:nvPr>
            <p:ph type="title"/>
          </p:nvPr>
        </p:nvSpPr>
        <p:spPr>
          <a:xfrm>
            <a:off x="838200" y="365126"/>
            <a:ext cx="10515600" cy="691888"/>
          </a:xfrm>
        </p:spPr>
        <p:txBody>
          <a:bodyPr>
            <a:normAutofit/>
          </a:bodyPr>
          <a:lstStyle/>
          <a:p>
            <a:r>
              <a:rPr lang="en-IN" sz="3200"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EE3E2C23-C4DE-6353-B6D7-12EFD1D570CF}"/>
              </a:ext>
            </a:extLst>
          </p:cNvPr>
          <p:cNvSpPr>
            <a:spLocks noGrp="1"/>
          </p:cNvSpPr>
          <p:nvPr>
            <p:ph idx="1"/>
          </p:nvPr>
        </p:nvSpPr>
        <p:spPr>
          <a:xfrm>
            <a:off x="838200" y="1149292"/>
            <a:ext cx="10515600" cy="5027671"/>
          </a:xfrm>
        </p:spPr>
        <p:txBody>
          <a:bodyPr/>
          <a:lstStyle/>
          <a:p>
            <a:r>
              <a:rPr lang="en-US" sz="2400" dirty="0">
                <a:latin typeface="Times New Roman" panose="02020603050405020304" pitchFamily="18" charset="0"/>
                <a:cs typeface="Times New Roman" panose="02020603050405020304" pitchFamily="18" charset="0"/>
              </a:rPr>
              <a:t>Random Forest achieved the highest accuracy (93%) using PHQ-9 data </a:t>
            </a:r>
          </a:p>
          <a:p>
            <a:r>
              <a:rPr lang="en-US" sz="2400" dirty="0">
                <a:latin typeface="Times New Roman" panose="02020603050405020304" pitchFamily="18" charset="0"/>
                <a:cs typeface="Times New Roman" panose="02020603050405020304" pitchFamily="18" charset="0"/>
              </a:rPr>
              <a:t>Vision Transformer achieved 87%, capturing eye-based features </a:t>
            </a:r>
          </a:p>
          <a:p>
            <a:r>
              <a:rPr lang="en-US" sz="2400" dirty="0">
                <a:latin typeface="Times New Roman" panose="02020603050405020304" pitchFamily="18" charset="0"/>
                <a:cs typeface="Times New Roman" panose="02020603050405020304" pitchFamily="18" charset="0"/>
              </a:rPr>
              <a:t>Fusion model achieved 92% by combining both modalities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Key Insight:</a:t>
            </a:r>
          </a:p>
          <a:p>
            <a:pPr marL="0" indent="0">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Although the fusion model has slightly lower accuracy than Random Forest, it provides a more reliable and balanced prediction by integrating both subjective (PHQ-9) and objective (eye features) data, making it more suitable for real-world depression detection.</a:t>
            </a:r>
          </a:p>
          <a:p>
            <a:pPr marL="0" indent="0">
              <a:buNone/>
            </a:pPr>
            <a:endParaRPr lang="en-IN" dirty="0"/>
          </a:p>
        </p:txBody>
      </p:sp>
    </p:spTree>
    <p:extLst>
      <p:ext uri="{BB962C8B-B14F-4D97-AF65-F5344CB8AC3E}">
        <p14:creationId xmlns:p14="http://schemas.microsoft.com/office/powerpoint/2010/main" val="114063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1AD2-0E88-7168-D535-17F93B84D8EE}"/>
              </a:ext>
            </a:extLst>
          </p:cNvPr>
          <p:cNvSpPr>
            <a:spLocks noGrp="1"/>
          </p:cNvSpPr>
          <p:nvPr>
            <p:ph type="ctrTitle"/>
          </p:nvPr>
        </p:nvSpPr>
        <p:spPr>
          <a:xfrm>
            <a:off x="922789" y="317020"/>
            <a:ext cx="7541703" cy="739993"/>
          </a:xfrm>
        </p:spPr>
        <p:txBody>
          <a:bodyPr/>
          <a:lstStyle/>
          <a:p>
            <a:pPr algn="l"/>
            <a:r>
              <a:rPr lang="en-IN" sz="3200"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B5E02B4B-1D08-C058-F337-E612540EC3DE}"/>
              </a:ext>
            </a:extLst>
          </p:cNvPr>
          <p:cNvSpPr>
            <a:spLocks noGrp="1"/>
          </p:cNvSpPr>
          <p:nvPr>
            <p:ph type="subTitle" idx="1"/>
          </p:nvPr>
        </p:nvSpPr>
        <p:spPr>
          <a:xfrm>
            <a:off x="796953" y="1459684"/>
            <a:ext cx="10695963" cy="5081296"/>
          </a:xfrm>
        </p:spPr>
        <p:txBody>
          <a:bodyPr/>
          <a:lstStyle/>
          <a:p>
            <a:pPr algn="just"/>
            <a:r>
              <a:rPr lang="en-US" sz="2400" dirty="0">
                <a:latin typeface="Times New Roman" panose="02020603050405020304" pitchFamily="18" charset="0"/>
                <a:cs typeface="Times New Roman" panose="02020603050405020304" pitchFamily="18" charset="0"/>
              </a:rPr>
              <a:t>This work highlights the importance of developing an accurate and reliable system for early depression detection by addressing the limitations of traditional and single-modality approaches. By integrating clinical inputs with objective visual features such as eye-based signals, the proposed multimodal framework enhances the robustness and accuracy of detection. Furthermore, the incorporation of Explainable AI techniques ensures transparency in decision-making, thereby increasing user trust and interpretability of the model’s predictions.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070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3AA0-D1A2-EF1B-07EE-2B409D798528}"/>
              </a:ext>
            </a:extLst>
          </p:cNvPr>
          <p:cNvSpPr>
            <a:spLocks noGrp="1"/>
          </p:cNvSpPr>
          <p:nvPr>
            <p:ph type="title"/>
          </p:nvPr>
        </p:nvSpPr>
        <p:spPr/>
        <p:txBody>
          <a:bodyPr/>
          <a:lstStyle/>
          <a:p>
            <a:pPr algn="l"/>
            <a:r>
              <a:rPr lang="en-IN" sz="3800"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EBC3FDED-9EBD-F98C-97CE-C26C06305836}"/>
              </a:ext>
            </a:extLst>
          </p:cNvPr>
          <p:cNvSpPr>
            <a:spLocks noGrp="1"/>
          </p:cNvSpPr>
          <p:nvPr>
            <p:ph idx="1"/>
          </p:nvPr>
        </p:nvSpPr>
        <p:spPr>
          <a:xfrm>
            <a:off x="525710" y="1417638"/>
            <a:ext cx="10972800" cy="4525963"/>
          </a:xfrm>
        </p:spPr>
        <p:txBody>
          <a:bodyPr/>
          <a:lstStyle/>
          <a:p>
            <a:r>
              <a:rPr lang="en-US" sz="2400" b="1" dirty="0">
                <a:latin typeface="Times New Roman" panose="02020603050405020304" pitchFamily="18" charset="0"/>
                <a:cs typeface="Times New Roman" panose="02020603050405020304" pitchFamily="18" charset="0"/>
              </a:rPr>
              <a:t>Larger and Diverse Dataset</a:t>
            </a:r>
            <a:br>
              <a:rPr lang="en-US" sz="24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It is possible to focus future work on training and validating the model with larger and more diverse dataset The introduction of data related to other age groups, ethnicities, and environmental factors will allow minimizing bias and make sure that performance in real-world conditions is reliable.</a:t>
            </a:r>
            <a:endParaRPr lang="en-IN" sz="16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lvl="0"/>
            <a:r>
              <a:rPr lang="en-US" sz="2400" b="1" dirty="0">
                <a:latin typeface="Times New Roman" panose="02020603050405020304" pitchFamily="18" charset="0"/>
                <a:cs typeface="Times New Roman" panose="02020603050405020304" pitchFamily="18" charset="0"/>
              </a:rPr>
              <a:t>Early Intervention and Recommendation System</a:t>
            </a:r>
            <a:br>
              <a:rPr lang="en-US" sz="24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would help the model to offer individual coping skills, therapy, and referral to professional assistance, which would turn it into a fully-fledged system of mental health.</a:t>
            </a:r>
          </a:p>
          <a:p>
            <a:pPr lvl="0"/>
            <a:endParaRPr lang="en-IN" sz="1600" dirty="0"/>
          </a:p>
          <a:p>
            <a:r>
              <a:rPr lang="en-US" sz="2400" b="1" dirty="0">
                <a:latin typeface="Times New Roman" panose="02020603050405020304" pitchFamily="18" charset="0"/>
                <a:cs typeface="Times New Roman" panose="02020603050405020304" pitchFamily="18" charset="0"/>
              </a:rPr>
              <a:t>Real-Time Implementation: </a:t>
            </a:r>
          </a:p>
          <a:p>
            <a:pPr marL="0" indent="0">
              <a:buNone/>
            </a:pP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next possible improvement is the creation of a real-time system or mobile-based application which would  constantly track the user inputs and make real-time predictions, which would make the system more practical and  accessible.</a:t>
            </a:r>
            <a:endParaRPr lang="en-IN"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38859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8FC11-DEC4-2A2C-4249-9B3452AAB83B}"/>
              </a:ext>
            </a:extLst>
          </p:cNvPr>
          <p:cNvSpPr>
            <a:spLocks noGrp="1"/>
          </p:cNvSpPr>
          <p:nvPr>
            <p:ph type="title"/>
          </p:nvPr>
        </p:nvSpPr>
        <p:spPr>
          <a:xfrm>
            <a:off x="609600" y="274638"/>
            <a:ext cx="10972800" cy="757208"/>
          </a:xfrm>
        </p:spPr>
        <p:txBody>
          <a:bodyPr/>
          <a:lstStyle/>
          <a:p>
            <a:pPr algn="l"/>
            <a:r>
              <a:rPr lang="en-IN" sz="36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FEDA31D5-CFD6-68D6-8C31-D1BE88B8A536}"/>
              </a:ext>
            </a:extLst>
          </p:cNvPr>
          <p:cNvSpPr>
            <a:spLocks noGrp="1"/>
          </p:cNvSpPr>
          <p:nvPr>
            <p:ph idx="1"/>
          </p:nvPr>
        </p:nvSpPr>
        <p:spPr>
          <a:xfrm>
            <a:off x="609600" y="1367406"/>
            <a:ext cx="10972800" cy="4758758"/>
          </a:xfrm>
        </p:spPr>
        <p:txBody>
          <a:bodyPr/>
          <a:lstStyle/>
          <a:p>
            <a:pPr marL="0" indent="0">
              <a:buNone/>
            </a:pPr>
            <a:r>
              <a:rPr lang="en-IN" sz="1800" dirty="0">
                <a:latin typeface="Times New Roman" panose="02020603050405020304" pitchFamily="18" charset="0"/>
                <a:cs typeface="Times New Roman" panose="02020603050405020304" pitchFamily="18" charset="0"/>
              </a:rPr>
              <a:t>[1] G. H. A. Masud, R. I. </a:t>
            </a:r>
            <a:r>
              <a:rPr lang="en-IN" sz="1800" dirty="0" err="1">
                <a:latin typeface="Times New Roman" panose="02020603050405020304" pitchFamily="18" charset="0"/>
                <a:cs typeface="Times New Roman" panose="02020603050405020304" pitchFamily="18" charset="0"/>
              </a:rPr>
              <a:t>Shanto</a:t>
            </a:r>
            <a:r>
              <a:rPr lang="en-IN" sz="1800" dirty="0">
                <a:latin typeface="Times New Roman" panose="02020603050405020304" pitchFamily="18" charset="0"/>
                <a:cs typeface="Times New Roman" panose="02020603050405020304" pitchFamily="18" charset="0"/>
              </a:rPr>
              <a:t>, I. Sakin, and M. R. Kabir, “Effective depression detection and interpretation: Integrating machine learning, deep learning, language models, and explainable AI,” Array, 2025</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[2] G. Kiss and P. Viktor, “Artificial intelligence-based depression detection,” Sensors, 2026.</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[3] Enkhbayar, K., Petrov, K., Ivanov, M., and Kim, J., “Explainable AI Models for Predicting Depression using PSG Data,” 2025.</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[4] S. Hameed, M. Nauman, N. Akhtar, M. A. B. Fayyaz, and R. Nawaz, “Explainable AI-driven depression detection from social media using natural language processing and machine learning models,” Frontiers in Artificial Intelligence, 2025.</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[5] R. Islam and S. W. Bae, “</a:t>
            </a:r>
            <a:r>
              <a:rPr lang="en-IN" sz="1800" dirty="0" err="1">
                <a:latin typeface="Times New Roman" panose="02020603050405020304" pitchFamily="18" charset="0"/>
                <a:cs typeface="Times New Roman" panose="02020603050405020304" pitchFamily="18" charset="0"/>
              </a:rPr>
              <a:t>PupilSense</a:t>
            </a:r>
            <a:r>
              <a:rPr lang="en-IN" sz="1800" dirty="0">
                <a:latin typeface="Times New Roman" panose="02020603050405020304" pitchFamily="18" charset="0"/>
                <a:cs typeface="Times New Roman" panose="02020603050405020304" pitchFamily="18" charset="0"/>
              </a:rPr>
              <a:t>: Detection of depressive episodes through pupillary response in the wild,” </a:t>
            </a:r>
          </a:p>
          <a:p>
            <a:pPr marL="0" indent="0">
              <a:buNone/>
            </a:pPr>
            <a:r>
              <a:rPr lang="en-IN" sz="1800" dirty="0">
                <a:latin typeface="Times New Roman" panose="02020603050405020304" pitchFamily="18" charset="0"/>
                <a:cs typeface="Times New Roman" panose="02020603050405020304" pitchFamily="18" charset="0"/>
              </a:rPr>
              <a:t>Sensors  Mobile Health Journal, 2024.</a:t>
            </a:r>
          </a:p>
        </p:txBody>
      </p:sp>
    </p:spTree>
    <p:extLst>
      <p:ext uri="{BB962C8B-B14F-4D97-AF65-F5344CB8AC3E}">
        <p14:creationId xmlns:p14="http://schemas.microsoft.com/office/powerpoint/2010/main" val="481064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C7441F-6975-7550-4116-6C17408A0B44}"/>
              </a:ext>
            </a:extLst>
          </p:cNvPr>
          <p:cNvSpPr>
            <a:spLocks noGrp="1"/>
          </p:cNvSpPr>
          <p:nvPr>
            <p:ph idx="1"/>
          </p:nvPr>
        </p:nvSpPr>
        <p:spPr>
          <a:xfrm>
            <a:off x="609600" y="704676"/>
            <a:ext cx="10972800" cy="5421488"/>
          </a:xfrm>
        </p:spPr>
        <p:txBody>
          <a:bodyPr/>
          <a:lstStyle/>
          <a:p>
            <a:pPr marL="0" indent="0">
              <a:buNone/>
            </a:pPr>
            <a:r>
              <a:rPr lang="en-IN" sz="1800" dirty="0">
                <a:latin typeface="Times New Roman" panose="02020603050405020304" pitchFamily="18" charset="0"/>
                <a:cs typeface="Times New Roman" panose="02020603050405020304" pitchFamily="18" charset="0"/>
              </a:rPr>
              <a:t>[6]</a:t>
            </a:r>
            <a:r>
              <a:rPr lang="en-US" sz="1200" b="1"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Mi Li, Yanbo Chen, </a:t>
            </a:r>
            <a:r>
              <a:rPr lang="en-IN" sz="1800" dirty="0" err="1">
                <a:latin typeface="Times New Roman" panose="02020603050405020304" pitchFamily="18" charset="0"/>
                <a:cs typeface="Times New Roman" panose="02020603050405020304" pitchFamily="18" charset="0"/>
              </a:rPr>
              <a:t>Zeying</a:t>
            </a:r>
            <a:r>
              <a:rPr lang="en-IN" sz="1800" dirty="0">
                <a:latin typeface="Times New Roman" panose="02020603050405020304" pitchFamily="18" charset="0"/>
                <a:cs typeface="Times New Roman" panose="02020603050405020304" pitchFamily="18" charset="0"/>
              </a:rPr>
              <a:t> Lu, Fan Ding, Bin Hu “Method and Device for Automatically Detecting Early Depression Using Multimodal Physiological Signals Evoked and Perceived via Various Emotional Scenes in Virtual Reality “ </a:t>
            </a:r>
            <a:r>
              <a:rPr lang="en-IN" sz="1800" i="1" dirty="0">
                <a:latin typeface="Times New Roman" panose="02020603050405020304" pitchFamily="18" charset="0"/>
                <a:cs typeface="Times New Roman" panose="02020603050405020304" pitchFamily="18" charset="0"/>
              </a:rPr>
              <a:t>IEEE Member Publication, 2024 </a:t>
            </a:r>
          </a:p>
          <a:p>
            <a:pPr marL="0" indent="0">
              <a:buNone/>
            </a:pPr>
            <a:endParaRPr lang="en-IN" sz="1800" i="1"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[7]Z. Zheng, L. Liang, X. Luo, J. Chen, M. Lin, G. Wang, and C. Xue, “Diagnosing and tracking depression based on eye movement in response to virtual reality,” </a:t>
            </a:r>
            <a:r>
              <a:rPr lang="en-IN" sz="1800" i="1" dirty="0">
                <a:latin typeface="Times New Roman" panose="02020603050405020304" pitchFamily="18" charset="0"/>
                <a:cs typeface="Times New Roman" panose="02020603050405020304" pitchFamily="18" charset="0"/>
              </a:rPr>
              <a:t>Frontiers in Psychiatry</a:t>
            </a:r>
            <a:r>
              <a:rPr lang="en-IN" sz="1800" dirty="0">
                <a:latin typeface="Times New Roman" panose="02020603050405020304" pitchFamily="18" charset="0"/>
                <a:cs typeface="Times New Roman" panose="02020603050405020304" pitchFamily="18" charset="0"/>
              </a:rPr>
              <a:t>, 2024. </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[8] Rahul Islam, Sang Won Bae “</a:t>
            </a:r>
            <a:r>
              <a:rPr lang="en-US" sz="1800" dirty="0" err="1">
                <a:latin typeface="Times New Roman" panose="02020603050405020304" pitchFamily="18" charset="0"/>
                <a:cs typeface="Times New Roman" panose="02020603050405020304" pitchFamily="18" charset="0"/>
              </a:rPr>
              <a:t>PupilSense</a:t>
            </a:r>
            <a:r>
              <a:rPr lang="en-US" sz="1800" dirty="0">
                <a:latin typeface="Times New Roman" panose="02020603050405020304" pitchFamily="18" charset="0"/>
                <a:cs typeface="Times New Roman" panose="02020603050405020304" pitchFamily="18" charset="0"/>
              </a:rPr>
              <a:t>: Detection of Depressive Episodes Through Pupillary Response in the Wild “</a:t>
            </a:r>
            <a:r>
              <a:rPr lang="en-US" sz="1800" i="1" dirty="0">
                <a:latin typeface="Times New Roman" panose="02020603050405020304" pitchFamily="18" charset="0"/>
                <a:cs typeface="Times New Roman" panose="02020603050405020304" pitchFamily="18" charset="0"/>
              </a:rPr>
              <a:t>Sensors or Mobile Health Journal, 2024</a:t>
            </a:r>
            <a:r>
              <a:rPr lang="en-US" sz="1800" dirty="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[9]</a:t>
            </a:r>
            <a:r>
              <a:rPr lang="en-US" sz="16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 M. Spaeth, C. P. Weinkauf, B. P. Alloy “Are Depressive Symptoms Linked to a Reduced Pupillary Response to Novel Positive Information?” </a:t>
            </a:r>
            <a:r>
              <a:rPr lang="en-US" sz="1800" i="1" dirty="0">
                <a:latin typeface="Times New Roman" panose="02020603050405020304" pitchFamily="18" charset="0"/>
                <a:cs typeface="Times New Roman" panose="02020603050405020304" pitchFamily="18" charset="0"/>
              </a:rPr>
              <a:t>Journal of Affective Disorders, 2023</a:t>
            </a:r>
            <a:r>
              <a:rPr lang="en-US" sz="18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[10] O. </a:t>
            </a:r>
            <a:r>
              <a:rPr lang="en-US" sz="1800" dirty="0" err="1">
                <a:latin typeface="Times New Roman" panose="02020603050405020304" pitchFamily="18" charset="0"/>
                <a:cs typeface="Times New Roman" panose="02020603050405020304" pitchFamily="18" charset="0"/>
              </a:rPr>
              <a:t>Alshanskaia</a:t>
            </a:r>
            <a:r>
              <a:rPr lang="en-US" sz="1800" dirty="0">
                <a:latin typeface="Times New Roman" panose="02020603050405020304" pitchFamily="18" charset="0"/>
                <a:cs typeface="Times New Roman" panose="02020603050405020304" pitchFamily="18" charset="0"/>
              </a:rPr>
              <a:t>, K. Petrov, M. Ivanov Using Cognitive Load from Pupil Dilation </a:t>
            </a:r>
            <a:r>
              <a:rPr lang="en-US" sz="1800" i="1" dirty="0">
                <a:latin typeface="Times New Roman" panose="02020603050405020304" pitchFamily="18" charset="0"/>
                <a:cs typeface="Times New Roman" panose="02020603050405020304" pitchFamily="18" charset="0"/>
              </a:rPr>
              <a:t>Human Factors in Computing, 2023</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p>
        </p:txBody>
      </p:sp>
    </p:spTree>
    <p:extLst>
      <p:ext uri="{BB962C8B-B14F-4D97-AF65-F5344CB8AC3E}">
        <p14:creationId xmlns:p14="http://schemas.microsoft.com/office/powerpoint/2010/main" val="4207107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B09EA-5BA9-3952-D9C8-B81EE857CACA}"/>
              </a:ext>
            </a:extLst>
          </p:cNvPr>
          <p:cNvSpPr>
            <a:spLocks noGrp="1"/>
          </p:cNvSpPr>
          <p:nvPr>
            <p:ph type="title"/>
          </p:nvPr>
        </p:nvSpPr>
        <p:spPr>
          <a:xfrm>
            <a:off x="609600" y="2457974"/>
            <a:ext cx="10972800" cy="1770076"/>
          </a:xfrm>
        </p:spPr>
        <p:txBody>
          <a:bodyPr/>
          <a:lstStyle/>
          <a:p>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542747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2671</TotalTime>
  <Words>1911</Words>
  <Application>Microsoft Office PowerPoint</Application>
  <PresentationFormat>Widescreen</PresentationFormat>
  <Paragraphs>238</Paragraphs>
  <Slides>26</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AngsanaUPC</vt:lpstr>
      <vt:lpstr>Arial</vt:lpstr>
      <vt:lpstr>Calibri</vt:lpstr>
      <vt:lpstr>Calibri Light</vt:lpstr>
      <vt:lpstr>Times New Roman</vt:lpstr>
      <vt:lpstr>Office Theme</vt:lpstr>
      <vt:lpstr>Default Design</vt:lpstr>
      <vt:lpstr>PowerPoint Presentation</vt:lpstr>
      <vt:lpstr>Agenda</vt:lpstr>
      <vt:lpstr>Introduction</vt:lpstr>
      <vt:lpstr>Problem statement </vt:lpstr>
      <vt:lpstr>PowerPoint Presentation</vt:lpstr>
      <vt:lpstr>        Literature Review</vt:lpstr>
      <vt:lpstr>PowerPoint Presentation</vt:lpstr>
      <vt:lpstr>Research Gap</vt:lpstr>
      <vt:lpstr>Datasets and Requirements</vt:lpstr>
      <vt:lpstr>PowerPoint Presentation</vt:lpstr>
      <vt:lpstr>Algorithms used in the Project:</vt:lpstr>
      <vt:lpstr>PowerPoint Presentation</vt:lpstr>
      <vt:lpstr>PowerPoint Presentation</vt:lpstr>
      <vt:lpstr>Architecture Diagram</vt:lpstr>
      <vt:lpstr>Implementation Steps and Execution</vt:lpstr>
      <vt:lpstr>Implementation – ViT &amp; Fusion Model </vt:lpstr>
      <vt:lpstr>PowerPoint Presentation</vt:lpstr>
      <vt:lpstr>Result Obtained</vt:lpstr>
      <vt:lpstr>PowerPoint Presentation</vt:lpstr>
      <vt:lpstr>PowerPoint Presentation</vt:lpstr>
      <vt:lpstr>Result Analysis</vt:lpstr>
      <vt:lpstr>Conclusion</vt:lpstr>
      <vt:lpstr>Future work</vt:lpstr>
      <vt:lpstr>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manvitha neelapala</dc:creator>
  <cp:lastModifiedBy>manvitha neelapala</cp:lastModifiedBy>
  <cp:revision>20</cp:revision>
  <dcterms:created xsi:type="dcterms:W3CDTF">2026-02-22T07:05:36Z</dcterms:created>
  <dcterms:modified xsi:type="dcterms:W3CDTF">2026-04-19T18:04:54Z</dcterms:modified>
</cp:coreProperties>
</file>